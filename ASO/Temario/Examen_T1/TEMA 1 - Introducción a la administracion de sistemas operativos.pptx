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2" r:id="rId7"/>
    <p:sldId id="263" r:id="rId8"/>
    <p:sldId id="265" r:id="rId9"/>
    <p:sldId id="266" r:id="rId10"/>
    <p:sldId id="264" r:id="rId11"/>
    <p:sldId id="267" r:id="rId12"/>
    <p:sldId id="268" r:id="rId13"/>
    <p:sldId id="269" r:id="rId14"/>
    <p:sldId id="270" r:id="rId15"/>
    <p:sldId id="261"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0" d="100"/>
          <a:sy n="50" d="100"/>
        </p:scale>
        <p:origin x="845"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9/17/2024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9/17/2024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0578ACC-22D6-47C1-A373-4FD133E34F3C}" type="datetimeFigureOut">
              <a:rPr lang="en-US" dirty="0"/>
              <a:t>9/17/2024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9/17/2024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0322" y="3030008"/>
            <a:ext cx="4698355"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594123" y="3030008"/>
            <a:ext cx="4700059"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9/17/2024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9/17/2024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9/17/2024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331444B-B92B-4E27-8C94-BB93EAF5CB18}" type="datetimeFigureOut">
              <a:rPr lang="en-US" dirty="0"/>
              <a:t>9/17/2024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3EFA5E-FA76-400D-B3DC-F0BA90E6D107}" type="datetimeFigureOut">
              <a:rPr lang="en-US" dirty="0"/>
              <a:t>9/17/2024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46C117F-5CCF-4837-BE5F-2B92066CAFAF}" type="datetimeFigureOut">
              <a:rPr lang="en-US" dirty="0"/>
              <a:t>9/17/2024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EB90BD-B6CE-46B7-997F-7313B992CCDC}" type="datetimeFigureOut">
              <a:rPr lang="en-US" dirty="0"/>
              <a:t>9/17/2024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B9D11F-B188-461D-B23F-39381795C052}" type="datetimeFigureOut">
              <a:rPr lang="en-US" dirty="0"/>
              <a:t>9/17/2024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2E6D8D9-55A2-4063-B0F3-121F44549695}" type="datetimeFigureOut">
              <a:rPr lang="en-US" dirty="0"/>
              <a:t>9/17/2024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4B24536-994D-4021-A283-9F449C0DB509}" type="datetimeFigureOut">
              <a:rPr lang="en-US" dirty="0"/>
              <a:t>9/17/2024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3CBBBB78-C96F-47B7-AB17-D852CA960AC9}" type="datetimeFigureOut">
              <a:rPr lang="en-US" dirty="0"/>
              <a:t>9/17/2024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9/17/2024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9/17/2024</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9/17/2024</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9B3333-10A0-466C-9475-FC226FA6F16E}"/>
              </a:ext>
            </a:extLst>
          </p:cNvPr>
          <p:cNvSpPr>
            <a:spLocks noGrp="1"/>
          </p:cNvSpPr>
          <p:nvPr>
            <p:ph type="ctrTitle"/>
          </p:nvPr>
        </p:nvSpPr>
        <p:spPr/>
        <p:txBody>
          <a:bodyPr/>
          <a:lstStyle/>
          <a:p>
            <a:r>
              <a:rPr lang="es-ES" dirty="0"/>
              <a:t>Introducción a la</a:t>
            </a:r>
            <a:br>
              <a:rPr lang="es-ES" dirty="0"/>
            </a:br>
            <a:r>
              <a:rPr lang="es-ES" dirty="0"/>
              <a:t>administración de</a:t>
            </a:r>
            <a:br>
              <a:rPr lang="es-ES" dirty="0"/>
            </a:br>
            <a:r>
              <a:rPr lang="es-ES" dirty="0"/>
              <a:t>servicio de directorio</a:t>
            </a:r>
          </a:p>
        </p:txBody>
      </p:sp>
      <p:sp>
        <p:nvSpPr>
          <p:cNvPr id="3" name="Subtítulo 2">
            <a:extLst>
              <a:ext uri="{FF2B5EF4-FFF2-40B4-BE49-F238E27FC236}">
                <a16:creationId xmlns:a16="http://schemas.microsoft.com/office/drawing/2014/main" id="{274814CC-7F78-4192-8505-4C7230BF5303}"/>
              </a:ext>
            </a:extLst>
          </p:cNvPr>
          <p:cNvSpPr>
            <a:spLocks noGrp="1"/>
          </p:cNvSpPr>
          <p:nvPr>
            <p:ph type="subTitle" idx="1"/>
          </p:nvPr>
        </p:nvSpPr>
        <p:spPr/>
        <p:txBody>
          <a:bodyPr/>
          <a:lstStyle/>
          <a:p>
            <a:r>
              <a:rPr lang="es-ES" dirty="0"/>
              <a:t>ADMINISTRACIÓN DE SISTEMAS OPERATIVOS</a:t>
            </a:r>
          </a:p>
        </p:txBody>
      </p:sp>
    </p:spTree>
    <p:extLst>
      <p:ext uri="{BB962C8B-B14F-4D97-AF65-F5344CB8AC3E}">
        <p14:creationId xmlns:p14="http://schemas.microsoft.com/office/powerpoint/2010/main" val="1485634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5216A-C730-4D42-8B27-A750BE1DBCD6}"/>
              </a:ext>
            </a:extLst>
          </p:cNvPr>
          <p:cNvSpPr>
            <a:spLocks noGrp="1"/>
          </p:cNvSpPr>
          <p:nvPr>
            <p:ph type="title"/>
          </p:nvPr>
        </p:nvSpPr>
        <p:spPr/>
        <p:txBody>
          <a:bodyPr/>
          <a:lstStyle/>
          <a:p>
            <a:r>
              <a:rPr lang="es-ES" dirty="0"/>
              <a:t>Introducción</a:t>
            </a:r>
          </a:p>
        </p:txBody>
      </p:sp>
      <p:sp>
        <p:nvSpPr>
          <p:cNvPr id="3" name="Marcador de contenido 2">
            <a:extLst>
              <a:ext uri="{FF2B5EF4-FFF2-40B4-BE49-F238E27FC236}">
                <a16:creationId xmlns:a16="http://schemas.microsoft.com/office/drawing/2014/main" id="{CE403E0B-89F9-4D85-B737-81738A149680}"/>
              </a:ext>
            </a:extLst>
          </p:cNvPr>
          <p:cNvSpPr>
            <a:spLocks noGrp="1"/>
          </p:cNvSpPr>
          <p:nvPr>
            <p:ph idx="1"/>
          </p:nvPr>
        </p:nvSpPr>
        <p:spPr/>
        <p:txBody>
          <a:bodyPr/>
          <a:lstStyle/>
          <a:p>
            <a:r>
              <a:rPr lang="es-ES" dirty="0"/>
              <a:t>El término </a:t>
            </a:r>
            <a:r>
              <a:rPr lang="es-ES" b="1" dirty="0"/>
              <a:t>“servicio de directorio”</a:t>
            </a:r>
            <a:r>
              <a:rPr lang="es-ES" dirty="0"/>
              <a:t> se refiere a un repositorio de información que el sistema operativo utiliza para organizar y gestionar los recursos de la red. Este repositorio normalmente contiene información sobre:</a:t>
            </a:r>
          </a:p>
          <a:p>
            <a:pPr>
              <a:buFont typeface="Arial" panose="020B0604020202020204" pitchFamily="34" charset="0"/>
              <a:buChar char="•"/>
            </a:pPr>
            <a:r>
              <a:rPr lang="es-ES" b="1" dirty="0"/>
              <a:t>Usuarios</a:t>
            </a:r>
            <a:r>
              <a:rPr lang="es-ES" dirty="0"/>
              <a:t>: Nombres, credenciales, permisos, etc.</a:t>
            </a:r>
          </a:p>
          <a:p>
            <a:pPr>
              <a:buFont typeface="Arial" panose="020B0604020202020204" pitchFamily="34" charset="0"/>
              <a:buChar char="•"/>
            </a:pPr>
            <a:r>
              <a:rPr lang="es-ES" b="1" dirty="0"/>
              <a:t>Grupos</a:t>
            </a:r>
            <a:r>
              <a:rPr lang="es-ES" dirty="0"/>
              <a:t>: Conjuntos de usuarios organizados según roles y permisos.</a:t>
            </a:r>
          </a:p>
          <a:p>
            <a:pPr>
              <a:buFont typeface="Arial" panose="020B0604020202020204" pitchFamily="34" charset="0"/>
              <a:buChar char="•"/>
            </a:pPr>
            <a:r>
              <a:rPr lang="es-ES" b="1" dirty="0" err="1"/>
              <a:t>Ordenadoress</a:t>
            </a:r>
            <a:r>
              <a:rPr lang="es-ES" b="1" dirty="0"/>
              <a:t> y recursos</a:t>
            </a:r>
            <a:r>
              <a:rPr lang="es-ES" dirty="0"/>
              <a:t>: Información sobre ordenadores en la red, impresoras, servidores y otros dispositivos.</a:t>
            </a:r>
          </a:p>
          <a:p>
            <a:endParaRPr lang="es-ES" dirty="0"/>
          </a:p>
        </p:txBody>
      </p:sp>
    </p:spTree>
    <p:extLst>
      <p:ext uri="{BB962C8B-B14F-4D97-AF65-F5344CB8AC3E}">
        <p14:creationId xmlns:p14="http://schemas.microsoft.com/office/powerpoint/2010/main" val="773452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6C8880-CA6D-4ED7-B564-E525D0020CE4}"/>
              </a:ext>
            </a:extLst>
          </p:cNvPr>
          <p:cNvSpPr>
            <a:spLocks noGrp="1"/>
          </p:cNvSpPr>
          <p:nvPr>
            <p:ph type="title"/>
          </p:nvPr>
        </p:nvSpPr>
        <p:spPr/>
        <p:txBody>
          <a:bodyPr/>
          <a:lstStyle/>
          <a:p>
            <a:r>
              <a:rPr lang="es-ES" dirty="0"/>
              <a:t>¿Qué es LDAP? Nomenclatura</a:t>
            </a:r>
          </a:p>
        </p:txBody>
      </p:sp>
      <p:sp>
        <p:nvSpPr>
          <p:cNvPr id="3" name="Marcador de contenido 2">
            <a:extLst>
              <a:ext uri="{FF2B5EF4-FFF2-40B4-BE49-F238E27FC236}">
                <a16:creationId xmlns:a16="http://schemas.microsoft.com/office/drawing/2014/main" id="{D88970A0-D7EB-4DA6-86AD-8812396DFEAD}"/>
              </a:ext>
            </a:extLst>
          </p:cNvPr>
          <p:cNvSpPr>
            <a:spLocks noGrp="1"/>
          </p:cNvSpPr>
          <p:nvPr>
            <p:ph idx="1"/>
          </p:nvPr>
        </p:nvSpPr>
        <p:spPr/>
        <p:txBody>
          <a:bodyPr>
            <a:normAutofit fontScale="70000" lnSpcReduction="20000"/>
          </a:bodyPr>
          <a:lstStyle/>
          <a:p>
            <a:pPr marL="0" indent="0">
              <a:buNone/>
            </a:pPr>
            <a:r>
              <a:rPr lang="es-ES" b="1" dirty="0"/>
              <a:t>LDAP</a:t>
            </a:r>
            <a:r>
              <a:rPr lang="es-ES" dirty="0"/>
              <a:t> es un protocolo utilizado para autenticar y autorizar el acceso a los recursos dentro de una red. Aunque Active </a:t>
            </a:r>
            <a:r>
              <a:rPr lang="es-ES" dirty="0" err="1"/>
              <a:t>Directory</a:t>
            </a:r>
            <a:r>
              <a:rPr lang="es-ES" dirty="0"/>
              <a:t> y LDAP se mencionan a menudo juntos, tienen funciones distintas:</a:t>
            </a:r>
          </a:p>
          <a:p>
            <a:pPr>
              <a:buFont typeface="Arial" panose="020B0604020202020204" pitchFamily="34" charset="0"/>
              <a:buChar char="•"/>
            </a:pPr>
            <a:r>
              <a:rPr lang="es-ES" b="1" dirty="0"/>
              <a:t>LDAP</a:t>
            </a:r>
            <a:r>
              <a:rPr lang="es-ES" dirty="0"/>
              <a:t> es un </a:t>
            </a:r>
            <a:r>
              <a:rPr lang="es-ES" b="1" dirty="0"/>
              <a:t>protocolo</a:t>
            </a:r>
            <a:r>
              <a:rPr lang="es-ES" dirty="0"/>
              <a:t> que permite gestionar de forma estructurada la información almacenada en el servicio de directorio.</a:t>
            </a:r>
          </a:p>
          <a:p>
            <a:pPr>
              <a:buFont typeface="Arial" panose="020B0604020202020204" pitchFamily="34" charset="0"/>
              <a:buChar char="•"/>
            </a:pPr>
            <a:r>
              <a:rPr lang="es-ES" b="1" dirty="0"/>
              <a:t>Active </a:t>
            </a:r>
            <a:r>
              <a:rPr lang="es-ES" b="1" dirty="0" err="1"/>
              <a:t>Directory</a:t>
            </a:r>
            <a:r>
              <a:rPr lang="es-ES" dirty="0"/>
              <a:t>, por otro lado, es una </a:t>
            </a:r>
            <a:r>
              <a:rPr lang="es-ES" b="1" dirty="0"/>
              <a:t>base de datos</a:t>
            </a:r>
            <a:r>
              <a:rPr lang="es-ES" dirty="0"/>
              <a:t> que almacena la información de usuarios y grupos.</a:t>
            </a:r>
          </a:p>
          <a:p>
            <a:pPr marL="0" indent="0">
              <a:buNone/>
            </a:pPr>
            <a:endParaRPr lang="es-ES" dirty="0"/>
          </a:p>
          <a:p>
            <a:pPr marL="0" indent="0">
              <a:buNone/>
            </a:pPr>
            <a:r>
              <a:rPr lang="es-ES" b="1" dirty="0"/>
              <a:t>Características clave de LDAP:</a:t>
            </a:r>
          </a:p>
          <a:p>
            <a:pPr>
              <a:buFont typeface="Arial" panose="020B0604020202020204" pitchFamily="34" charset="0"/>
              <a:buChar char="•"/>
            </a:pPr>
            <a:r>
              <a:rPr lang="es-ES" b="1" dirty="0"/>
              <a:t>Autenticación</a:t>
            </a:r>
            <a:r>
              <a:rPr lang="es-ES" dirty="0"/>
              <a:t>: LDAP gestiona el acceso y la identidad de los usuarios, facilitando el inicio de sesión en diferentes servicios o recursos.</a:t>
            </a:r>
          </a:p>
          <a:p>
            <a:pPr>
              <a:buFont typeface="Arial" panose="020B0604020202020204" pitchFamily="34" charset="0"/>
              <a:buChar char="•"/>
            </a:pPr>
            <a:r>
              <a:rPr lang="es-ES" b="1" dirty="0"/>
              <a:t>Autorización</a:t>
            </a:r>
            <a:r>
              <a:rPr lang="es-ES" dirty="0"/>
              <a:t>: Define los permisos para que los usuarios accedan a recursos específicos.</a:t>
            </a:r>
          </a:p>
          <a:p>
            <a:pPr>
              <a:buFont typeface="Arial" panose="020B0604020202020204" pitchFamily="34" charset="0"/>
              <a:buChar char="•"/>
            </a:pPr>
            <a:r>
              <a:rPr lang="es-ES" b="1" dirty="0"/>
              <a:t>Gestión centralizada</a:t>
            </a:r>
            <a:r>
              <a:rPr lang="es-ES" dirty="0"/>
              <a:t>: A través de Active </a:t>
            </a:r>
            <a:r>
              <a:rPr lang="es-ES" dirty="0" err="1"/>
              <a:t>Directory</a:t>
            </a:r>
            <a:r>
              <a:rPr lang="es-ES" dirty="0"/>
              <a:t> y otros servicios de directorio, LDAP proporciona un medio eficiente para organizar y gestionar la membresía de usuarios y grupos.</a:t>
            </a:r>
          </a:p>
          <a:p>
            <a:endParaRPr lang="es-ES" dirty="0"/>
          </a:p>
        </p:txBody>
      </p:sp>
    </p:spTree>
    <p:extLst>
      <p:ext uri="{BB962C8B-B14F-4D97-AF65-F5344CB8AC3E}">
        <p14:creationId xmlns:p14="http://schemas.microsoft.com/office/powerpoint/2010/main" val="2670670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41D1E6-277C-4358-95FB-0C71381D5B2E}"/>
              </a:ext>
            </a:extLst>
          </p:cNvPr>
          <p:cNvSpPr>
            <a:spLocks noGrp="1"/>
          </p:cNvSpPr>
          <p:nvPr>
            <p:ph type="title"/>
          </p:nvPr>
        </p:nvSpPr>
        <p:spPr/>
        <p:txBody>
          <a:bodyPr/>
          <a:lstStyle/>
          <a:p>
            <a:r>
              <a:rPr lang="es-ES" dirty="0"/>
              <a:t>Esquema del Servicio de Directorio</a:t>
            </a:r>
          </a:p>
        </p:txBody>
      </p:sp>
      <p:sp>
        <p:nvSpPr>
          <p:cNvPr id="3" name="Marcador de contenido 2">
            <a:extLst>
              <a:ext uri="{FF2B5EF4-FFF2-40B4-BE49-F238E27FC236}">
                <a16:creationId xmlns:a16="http://schemas.microsoft.com/office/drawing/2014/main" id="{1CB6D664-4ADD-456F-9DFF-8672E31B31AA}"/>
              </a:ext>
            </a:extLst>
          </p:cNvPr>
          <p:cNvSpPr>
            <a:spLocks noGrp="1"/>
          </p:cNvSpPr>
          <p:nvPr>
            <p:ph idx="1"/>
          </p:nvPr>
        </p:nvSpPr>
        <p:spPr/>
        <p:txBody>
          <a:bodyPr>
            <a:normAutofit fontScale="85000" lnSpcReduction="20000"/>
          </a:bodyPr>
          <a:lstStyle/>
          <a:p>
            <a:pPr marL="0" indent="0">
              <a:buNone/>
            </a:pPr>
            <a:r>
              <a:rPr lang="es-ES" dirty="0"/>
              <a:t>Un servidor LDAP organiza la información en una estructura jerárquica similar a un árbol, donde las ramas tienen nodos que actúan como contenedores u objetos. Estos objetos pueden representar diferentes tipos de entidades, como usuarios, grupos o dispositivos, y están clasificados por atributos específicos.</a:t>
            </a:r>
          </a:p>
          <a:p>
            <a:pPr marL="0" indent="0">
              <a:buNone/>
            </a:pPr>
            <a:endParaRPr lang="es-ES" b="1" dirty="0"/>
          </a:p>
          <a:p>
            <a:pPr marL="0" indent="0">
              <a:buNone/>
            </a:pPr>
            <a:r>
              <a:rPr lang="es-ES" b="1" dirty="0"/>
              <a:t>Tipos de objetos en un servidor LDAP:</a:t>
            </a:r>
          </a:p>
          <a:p>
            <a:pPr>
              <a:buFont typeface="Arial" panose="020B0604020202020204" pitchFamily="34" charset="0"/>
              <a:buChar char="•"/>
            </a:pPr>
            <a:r>
              <a:rPr lang="es-ES" b="1" dirty="0" err="1"/>
              <a:t>root</a:t>
            </a:r>
            <a:r>
              <a:rPr lang="es-ES" dirty="0"/>
              <a:t>: El directorio raíz que contiene toda la estructura del árbol.</a:t>
            </a:r>
          </a:p>
          <a:p>
            <a:pPr>
              <a:buFont typeface="Arial" panose="020B0604020202020204" pitchFamily="34" charset="0"/>
              <a:buChar char="•"/>
            </a:pPr>
            <a:r>
              <a:rPr lang="es-ES" b="1" dirty="0"/>
              <a:t>c</a:t>
            </a:r>
            <a:r>
              <a:rPr lang="es-ES" dirty="0"/>
              <a:t>: Representa los países.</a:t>
            </a:r>
          </a:p>
          <a:p>
            <a:pPr>
              <a:buFont typeface="Arial" panose="020B0604020202020204" pitchFamily="34" charset="0"/>
              <a:buChar char="•"/>
            </a:pPr>
            <a:r>
              <a:rPr lang="es-ES" b="1" dirty="0" err="1"/>
              <a:t>dc</a:t>
            </a:r>
            <a:r>
              <a:rPr lang="es-ES" dirty="0"/>
              <a:t>: Dominios.</a:t>
            </a:r>
          </a:p>
          <a:p>
            <a:pPr>
              <a:buFont typeface="Arial" panose="020B0604020202020204" pitchFamily="34" charset="0"/>
              <a:buChar char="•"/>
            </a:pPr>
            <a:r>
              <a:rPr lang="es-ES" b="1" dirty="0" err="1"/>
              <a:t>ou</a:t>
            </a:r>
            <a:r>
              <a:rPr lang="es-ES" dirty="0"/>
              <a:t>: Unidades Organizativas (</a:t>
            </a:r>
            <a:r>
              <a:rPr lang="es-ES" dirty="0" err="1"/>
              <a:t>Organizational</a:t>
            </a:r>
            <a:r>
              <a:rPr lang="es-ES" dirty="0"/>
              <a:t> </a:t>
            </a:r>
            <a:r>
              <a:rPr lang="es-ES" dirty="0" err="1"/>
              <a:t>Unit</a:t>
            </a:r>
            <a:r>
              <a:rPr lang="es-ES" dirty="0"/>
              <a:t>).</a:t>
            </a:r>
          </a:p>
          <a:p>
            <a:pPr>
              <a:buFont typeface="Arial" panose="020B0604020202020204" pitchFamily="34" charset="0"/>
              <a:buChar char="•"/>
            </a:pPr>
            <a:r>
              <a:rPr lang="es-ES" b="1" dirty="0" err="1"/>
              <a:t>cn</a:t>
            </a:r>
            <a:r>
              <a:rPr lang="es-ES" dirty="0"/>
              <a:t> y </a:t>
            </a:r>
            <a:r>
              <a:rPr lang="es-ES" b="1" dirty="0" err="1"/>
              <a:t>sn</a:t>
            </a:r>
            <a:r>
              <a:rPr lang="es-ES" dirty="0"/>
              <a:t>: Personas individuales u otros objetos específicos, como recursos.</a:t>
            </a:r>
          </a:p>
          <a:p>
            <a:endParaRPr lang="es-ES" dirty="0"/>
          </a:p>
        </p:txBody>
      </p:sp>
    </p:spTree>
    <p:extLst>
      <p:ext uri="{BB962C8B-B14F-4D97-AF65-F5344CB8AC3E}">
        <p14:creationId xmlns:p14="http://schemas.microsoft.com/office/powerpoint/2010/main" val="3622530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41D1E6-277C-4358-95FB-0C71381D5B2E}"/>
              </a:ext>
            </a:extLst>
          </p:cNvPr>
          <p:cNvSpPr>
            <a:spLocks noGrp="1"/>
          </p:cNvSpPr>
          <p:nvPr>
            <p:ph type="title"/>
          </p:nvPr>
        </p:nvSpPr>
        <p:spPr/>
        <p:txBody>
          <a:bodyPr/>
          <a:lstStyle/>
          <a:p>
            <a:r>
              <a:rPr lang="es-ES" dirty="0"/>
              <a:t>Esquema del Servicio de Directorio</a:t>
            </a:r>
          </a:p>
        </p:txBody>
      </p:sp>
      <p:sp>
        <p:nvSpPr>
          <p:cNvPr id="3" name="Marcador de contenido 2">
            <a:extLst>
              <a:ext uri="{FF2B5EF4-FFF2-40B4-BE49-F238E27FC236}">
                <a16:creationId xmlns:a16="http://schemas.microsoft.com/office/drawing/2014/main" id="{1CB6D664-4ADD-456F-9DFF-8672E31B31AA}"/>
              </a:ext>
            </a:extLst>
          </p:cNvPr>
          <p:cNvSpPr>
            <a:spLocks noGrp="1"/>
          </p:cNvSpPr>
          <p:nvPr>
            <p:ph idx="1"/>
          </p:nvPr>
        </p:nvSpPr>
        <p:spPr/>
        <p:txBody>
          <a:bodyPr/>
          <a:lstStyle/>
          <a:p>
            <a:r>
              <a:rPr lang="es-ES" b="1" dirty="0"/>
              <a:t>Ejemplo de objetos en LDAP:</a:t>
            </a:r>
          </a:p>
          <a:p>
            <a:r>
              <a:rPr lang="es-ES" dirty="0"/>
              <a:t>Imagina que un servidor LDAP tiene la siguiente estructura jerárquica:</a:t>
            </a:r>
          </a:p>
          <a:p>
            <a:pPr>
              <a:buFont typeface="Arial" panose="020B0604020202020204" pitchFamily="34" charset="0"/>
              <a:buChar char="•"/>
            </a:pPr>
            <a:r>
              <a:rPr lang="es-ES" b="1" dirty="0" err="1"/>
              <a:t>root</a:t>
            </a:r>
            <a:r>
              <a:rPr lang="es-ES" dirty="0"/>
              <a:t> (directorio principal)</a:t>
            </a:r>
          </a:p>
          <a:p>
            <a:pPr marL="742950" lvl="1" indent="-285750">
              <a:buFont typeface="Arial" panose="020B0604020202020204" pitchFamily="34" charset="0"/>
              <a:buChar char="•"/>
            </a:pPr>
            <a:r>
              <a:rPr lang="es-ES" b="1" dirty="0"/>
              <a:t>c=ES</a:t>
            </a:r>
            <a:r>
              <a:rPr lang="es-ES" dirty="0"/>
              <a:t> (país: España)</a:t>
            </a:r>
          </a:p>
          <a:p>
            <a:pPr marL="1143000" lvl="2" indent="-228600">
              <a:buFont typeface="Arial" panose="020B0604020202020204" pitchFamily="34" charset="0"/>
              <a:buChar char="•"/>
            </a:pPr>
            <a:r>
              <a:rPr lang="es-ES" b="1" dirty="0" err="1"/>
              <a:t>dc</a:t>
            </a:r>
            <a:r>
              <a:rPr lang="es-ES" b="1" dirty="0"/>
              <a:t>=empresa, </a:t>
            </a:r>
            <a:r>
              <a:rPr lang="es-ES" b="1" dirty="0" err="1"/>
              <a:t>dc</a:t>
            </a:r>
            <a:r>
              <a:rPr lang="es-ES" b="1" dirty="0"/>
              <a:t>=</a:t>
            </a:r>
            <a:r>
              <a:rPr lang="es-ES" b="1" dirty="0" err="1"/>
              <a:t>com</a:t>
            </a:r>
            <a:r>
              <a:rPr lang="es-ES" dirty="0"/>
              <a:t> (dominio: empresa.com)</a:t>
            </a:r>
          </a:p>
          <a:p>
            <a:pPr marL="1600200" lvl="3" indent="-228600">
              <a:buFont typeface="Arial" panose="020B0604020202020204" pitchFamily="34" charset="0"/>
              <a:buChar char="•"/>
            </a:pPr>
            <a:r>
              <a:rPr lang="es-ES" b="1" dirty="0" err="1"/>
              <a:t>ou</a:t>
            </a:r>
            <a:r>
              <a:rPr lang="es-ES" b="1" dirty="0"/>
              <a:t>=IT</a:t>
            </a:r>
            <a:r>
              <a:rPr lang="es-ES" dirty="0"/>
              <a:t> (Unidad Organizativa: Departamento de TI)</a:t>
            </a:r>
          </a:p>
          <a:p>
            <a:pPr marL="2057400" lvl="4" indent="-228600">
              <a:buFont typeface="Arial" panose="020B0604020202020204" pitchFamily="34" charset="0"/>
              <a:buChar char="•"/>
            </a:pPr>
            <a:r>
              <a:rPr lang="es-ES" b="1" dirty="0" err="1"/>
              <a:t>cn</a:t>
            </a:r>
            <a:r>
              <a:rPr lang="es-ES" b="1" dirty="0"/>
              <a:t>=Juan Pérez</a:t>
            </a:r>
            <a:r>
              <a:rPr lang="es-ES" dirty="0"/>
              <a:t> (usuario individual)</a:t>
            </a:r>
          </a:p>
          <a:p>
            <a:endParaRPr lang="es-ES" dirty="0"/>
          </a:p>
        </p:txBody>
      </p:sp>
    </p:spTree>
    <p:extLst>
      <p:ext uri="{BB962C8B-B14F-4D97-AF65-F5344CB8AC3E}">
        <p14:creationId xmlns:p14="http://schemas.microsoft.com/office/powerpoint/2010/main" val="2636867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946212-EC49-456A-A8D2-AA8BD4FE8B70}"/>
              </a:ext>
            </a:extLst>
          </p:cNvPr>
          <p:cNvSpPr>
            <a:spLocks noGrp="1"/>
          </p:cNvSpPr>
          <p:nvPr>
            <p:ph type="title"/>
          </p:nvPr>
        </p:nvSpPr>
        <p:spPr/>
        <p:txBody>
          <a:bodyPr/>
          <a:lstStyle/>
          <a:p>
            <a:r>
              <a:rPr lang="es-ES" dirty="0"/>
              <a:t>Funciones del Dominio en LDAP</a:t>
            </a:r>
          </a:p>
        </p:txBody>
      </p:sp>
      <p:sp>
        <p:nvSpPr>
          <p:cNvPr id="3" name="Marcador de contenido 2">
            <a:extLst>
              <a:ext uri="{FF2B5EF4-FFF2-40B4-BE49-F238E27FC236}">
                <a16:creationId xmlns:a16="http://schemas.microsoft.com/office/drawing/2014/main" id="{D8AC94F2-333D-4125-BDC9-6B3258DDB1D7}"/>
              </a:ext>
            </a:extLst>
          </p:cNvPr>
          <p:cNvSpPr>
            <a:spLocks noGrp="1"/>
          </p:cNvSpPr>
          <p:nvPr>
            <p:ph idx="1"/>
          </p:nvPr>
        </p:nvSpPr>
        <p:spPr/>
        <p:txBody>
          <a:bodyPr/>
          <a:lstStyle/>
          <a:p>
            <a:r>
              <a:rPr lang="es-ES" b="1" dirty="0"/>
              <a:t>LDAP (</a:t>
            </a:r>
            <a:r>
              <a:rPr lang="es-ES" b="1" dirty="0" err="1"/>
              <a:t>Lightweight</a:t>
            </a:r>
            <a:r>
              <a:rPr lang="es-ES" b="1" dirty="0"/>
              <a:t> </a:t>
            </a:r>
            <a:r>
              <a:rPr lang="es-ES" b="1" dirty="0" err="1"/>
              <a:t>Directory</a:t>
            </a:r>
            <a:r>
              <a:rPr lang="es-ES" b="1" dirty="0"/>
              <a:t> Access </a:t>
            </a:r>
            <a:r>
              <a:rPr lang="es-ES" b="1" dirty="0" err="1"/>
              <a:t>Protocol</a:t>
            </a:r>
            <a:r>
              <a:rPr lang="es-ES" b="1" dirty="0"/>
              <a:t>)</a:t>
            </a:r>
            <a:r>
              <a:rPr lang="es-ES" dirty="0"/>
              <a:t> se utiliza principalmente para gestionar y acceder a la información almacenada en un </a:t>
            </a:r>
            <a:r>
              <a:rPr lang="es-ES" b="1" dirty="0"/>
              <a:t>servicio de directorio</a:t>
            </a:r>
            <a:r>
              <a:rPr lang="es-ES" dirty="0"/>
              <a:t>. A través de este protocolo, es posible realizar varias operaciones relacionadas con la gestión de usuarios, grupos y otros recursos en una red.</a:t>
            </a:r>
          </a:p>
          <a:p>
            <a:r>
              <a:rPr lang="es-ES" b="1" dirty="0"/>
              <a:t>Principales</a:t>
            </a:r>
            <a:r>
              <a:rPr lang="es-ES" dirty="0"/>
              <a:t> de LDAP:</a:t>
            </a:r>
          </a:p>
          <a:p>
            <a:endParaRPr lang="es-ES" dirty="0"/>
          </a:p>
        </p:txBody>
      </p:sp>
    </p:spTree>
    <p:extLst>
      <p:ext uri="{BB962C8B-B14F-4D97-AF65-F5344CB8AC3E}">
        <p14:creationId xmlns:p14="http://schemas.microsoft.com/office/powerpoint/2010/main" val="1413165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946212-EC49-456A-A8D2-AA8BD4FE8B70}"/>
              </a:ext>
            </a:extLst>
          </p:cNvPr>
          <p:cNvSpPr>
            <a:spLocks noGrp="1"/>
          </p:cNvSpPr>
          <p:nvPr>
            <p:ph type="title"/>
          </p:nvPr>
        </p:nvSpPr>
        <p:spPr/>
        <p:txBody>
          <a:bodyPr/>
          <a:lstStyle/>
          <a:p>
            <a:r>
              <a:rPr lang="es-ES" dirty="0"/>
              <a:t>Funciones del Dominio en LDAP</a:t>
            </a:r>
          </a:p>
        </p:txBody>
      </p:sp>
      <p:sp>
        <p:nvSpPr>
          <p:cNvPr id="3" name="Marcador de contenido 2">
            <a:extLst>
              <a:ext uri="{FF2B5EF4-FFF2-40B4-BE49-F238E27FC236}">
                <a16:creationId xmlns:a16="http://schemas.microsoft.com/office/drawing/2014/main" id="{D8AC94F2-333D-4125-BDC9-6B3258DDB1D7}"/>
              </a:ext>
            </a:extLst>
          </p:cNvPr>
          <p:cNvSpPr>
            <a:spLocks noGrp="1"/>
          </p:cNvSpPr>
          <p:nvPr>
            <p:ph idx="1"/>
          </p:nvPr>
        </p:nvSpPr>
        <p:spPr/>
        <p:txBody>
          <a:bodyPr>
            <a:normAutofit/>
          </a:bodyPr>
          <a:lstStyle/>
          <a:p>
            <a:pPr marL="0" indent="0">
              <a:buNone/>
            </a:pPr>
            <a:r>
              <a:rPr lang="es-ES" b="1" dirty="0"/>
              <a:t>Almacenamiento, Autenticación y Autorización de Datos de Usuarios y Contraseñas</a:t>
            </a:r>
          </a:p>
          <a:p>
            <a:r>
              <a:rPr lang="es-ES" dirty="0"/>
              <a:t>Una de las funciones más importantes de LDAP es la gestión de la </a:t>
            </a:r>
            <a:r>
              <a:rPr lang="es-ES" b="1" dirty="0"/>
              <a:t>información de usuarios y contraseñas</a:t>
            </a:r>
            <a:r>
              <a:rPr lang="es-ES" dirty="0"/>
              <a:t>. Esto incluye:</a:t>
            </a:r>
          </a:p>
          <a:p>
            <a:pPr lvl="1"/>
            <a:r>
              <a:rPr lang="es-ES" b="1" dirty="0"/>
              <a:t>Almacenamiento</a:t>
            </a:r>
            <a:r>
              <a:rPr lang="es-ES" dirty="0"/>
              <a:t> seguro de los datos de los usuarios, como credenciales de inicio de sesión.</a:t>
            </a:r>
          </a:p>
          <a:p>
            <a:pPr lvl="1"/>
            <a:r>
              <a:rPr lang="es-ES" b="1" dirty="0"/>
              <a:t>Autenticación</a:t>
            </a:r>
            <a:r>
              <a:rPr lang="es-ES" dirty="0"/>
              <a:t>: Verificación de la identidad de los usuarios que intentan acceder al sistema o a recursos específicos.</a:t>
            </a:r>
          </a:p>
          <a:p>
            <a:pPr lvl="1"/>
            <a:r>
              <a:rPr lang="es-ES" b="1" dirty="0"/>
              <a:t>Autorización</a:t>
            </a:r>
            <a:r>
              <a:rPr lang="es-ES" dirty="0"/>
              <a:t>: Control del acceso a los recursos según las políticas definidas en el servicio de directorio.</a:t>
            </a:r>
          </a:p>
          <a:p>
            <a:pPr marL="0" indent="0">
              <a:buNone/>
            </a:pPr>
            <a:endParaRPr lang="es-ES" dirty="0"/>
          </a:p>
        </p:txBody>
      </p:sp>
    </p:spTree>
    <p:extLst>
      <p:ext uri="{BB962C8B-B14F-4D97-AF65-F5344CB8AC3E}">
        <p14:creationId xmlns:p14="http://schemas.microsoft.com/office/powerpoint/2010/main" val="3749027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946212-EC49-456A-A8D2-AA8BD4FE8B70}"/>
              </a:ext>
            </a:extLst>
          </p:cNvPr>
          <p:cNvSpPr>
            <a:spLocks noGrp="1"/>
          </p:cNvSpPr>
          <p:nvPr>
            <p:ph type="title"/>
          </p:nvPr>
        </p:nvSpPr>
        <p:spPr/>
        <p:txBody>
          <a:bodyPr/>
          <a:lstStyle/>
          <a:p>
            <a:r>
              <a:rPr lang="es-ES" dirty="0"/>
              <a:t>Funciones del Dominio en LDAP</a:t>
            </a:r>
          </a:p>
        </p:txBody>
      </p:sp>
      <p:sp>
        <p:nvSpPr>
          <p:cNvPr id="3" name="Marcador de contenido 2">
            <a:extLst>
              <a:ext uri="{FF2B5EF4-FFF2-40B4-BE49-F238E27FC236}">
                <a16:creationId xmlns:a16="http://schemas.microsoft.com/office/drawing/2014/main" id="{D8AC94F2-333D-4125-BDC9-6B3258DDB1D7}"/>
              </a:ext>
            </a:extLst>
          </p:cNvPr>
          <p:cNvSpPr>
            <a:spLocks noGrp="1"/>
          </p:cNvSpPr>
          <p:nvPr>
            <p:ph idx="1"/>
          </p:nvPr>
        </p:nvSpPr>
        <p:spPr/>
        <p:txBody>
          <a:bodyPr/>
          <a:lstStyle/>
          <a:p>
            <a:pPr marL="0" indent="0">
              <a:buNone/>
            </a:pPr>
            <a:r>
              <a:rPr lang="es-ES" b="1" dirty="0"/>
              <a:t>Operaciones en la Base de Datos del Directorio</a:t>
            </a:r>
          </a:p>
          <a:p>
            <a:r>
              <a:rPr lang="es-ES" dirty="0"/>
              <a:t>LDAP permite realizar </a:t>
            </a:r>
            <a:r>
              <a:rPr lang="es-ES" b="1" dirty="0"/>
              <a:t>operaciones CRUD (Crear, Leer, Actualizar, Eliminar)</a:t>
            </a:r>
            <a:r>
              <a:rPr lang="es-ES" dirty="0"/>
              <a:t> en la base de datos del directorio. Esto implica:</a:t>
            </a:r>
          </a:p>
          <a:p>
            <a:pPr lvl="1"/>
            <a:r>
              <a:rPr lang="es-ES" b="1" dirty="0"/>
              <a:t>Modificación</a:t>
            </a:r>
            <a:r>
              <a:rPr lang="es-ES" dirty="0"/>
              <a:t> de las entradas existentes en el directorio, como cambiar atributos de usuarios o grupos.</a:t>
            </a:r>
          </a:p>
          <a:p>
            <a:pPr lvl="1"/>
            <a:r>
              <a:rPr lang="es-ES" b="1" dirty="0"/>
              <a:t>Búsqueda</a:t>
            </a:r>
            <a:r>
              <a:rPr lang="es-ES" dirty="0"/>
              <a:t> de entradas específicas en el directorio, utilizando atributos como nombres, direcciones o roles.</a:t>
            </a:r>
          </a:p>
          <a:p>
            <a:pPr lvl="1"/>
            <a:r>
              <a:rPr lang="es-ES" b="1" dirty="0"/>
              <a:t>Eliminación</a:t>
            </a:r>
            <a:r>
              <a:rPr lang="es-ES" dirty="0"/>
              <a:t> de entradas obsoletas o no deseadas del directorio, como usuarios o dispositivos que ya no están activos.</a:t>
            </a:r>
          </a:p>
          <a:p>
            <a:pPr marL="0" indent="0">
              <a:buNone/>
            </a:pPr>
            <a:endParaRPr lang="es-ES" dirty="0"/>
          </a:p>
        </p:txBody>
      </p:sp>
    </p:spTree>
    <p:extLst>
      <p:ext uri="{BB962C8B-B14F-4D97-AF65-F5344CB8AC3E}">
        <p14:creationId xmlns:p14="http://schemas.microsoft.com/office/powerpoint/2010/main" val="2629417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946212-EC49-456A-A8D2-AA8BD4FE8B70}"/>
              </a:ext>
            </a:extLst>
          </p:cNvPr>
          <p:cNvSpPr>
            <a:spLocks noGrp="1"/>
          </p:cNvSpPr>
          <p:nvPr>
            <p:ph type="title"/>
          </p:nvPr>
        </p:nvSpPr>
        <p:spPr/>
        <p:txBody>
          <a:bodyPr/>
          <a:lstStyle/>
          <a:p>
            <a:r>
              <a:rPr lang="es-ES" dirty="0"/>
              <a:t>Funciones del Dominio en LDAP</a:t>
            </a:r>
          </a:p>
        </p:txBody>
      </p:sp>
      <p:sp>
        <p:nvSpPr>
          <p:cNvPr id="3" name="Marcador de contenido 2">
            <a:extLst>
              <a:ext uri="{FF2B5EF4-FFF2-40B4-BE49-F238E27FC236}">
                <a16:creationId xmlns:a16="http://schemas.microsoft.com/office/drawing/2014/main" id="{D8AC94F2-333D-4125-BDC9-6B3258DDB1D7}"/>
              </a:ext>
            </a:extLst>
          </p:cNvPr>
          <p:cNvSpPr>
            <a:spLocks noGrp="1"/>
          </p:cNvSpPr>
          <p:nvPr>
            <p:ph idx="1"/>
          </p:nvPr>
        </p:nvSpPr>
        <p:spPr/>
        <p:txBody>
          <a:bodyPr/>
          <a:lstStyle/>
          <a:p>
            <a:pPr marL="0" indent="0">
              <a:buNone/>
            </a:pPr>
            <a:r>
              <a:rPr lang="es-ES" b="1" dirty="0"/>
              <a:t>Autenticación de Sesiones</a:t>
            </a:r>
          </a:p>
          <a:p>
            <a:r>
              <a:rPr lang="es-ES" dirty="0"/>
              <a:t>LDAP también juega un papel importante en la </a:t>
            </a:r>
            <a:r>
              <a:rPr lang="es-ES" b="1" dirty="0"/>
              <a:t>autenticación de sesiones</a:t>
            </a:r>
            <a:r>
              <a:rPr lang="es-ES" dirty="0"/>
              <a:t> dentro de un sistema. Cuando un usuario intenta acceder a un recurso en la red, LDAP verifica las credenciales y autentica la sesión, permitiendo o denegando el acceso según las políticas configuradas.</a:t>
            </a:r>
          </a:p>
          <a:p>
            <a:pPr marL="0" indent="0">
              <a:buNone/>
            </a:pPr>
            <a:endParaRPr lang="es-ES" dirty="0"/>
          </a:p>
        </p:txBody>
      </p:sp>
    </p:spTree>
    <p:extLst>
      <p:ext uri="{BB962C8B-B14F-4D97-AF65-F5344CB8AC3E}">
        <p14:creationId xmlns:p14="http://schemas.microsoft.com/office/powerpoint/2010/main" val="355527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946212-EC49-456A-A8D2-AA8BD4FE8B70}"/>
              </a:ext>
            </a:extLst>
          </p:cNvPr>
          <p:cNvSpPr>
            <a:spLocks noGrp="1"/>
          </p:cNvSpPr>
          <p:nvPr>
            <p:ph type="title"/>
          </p:nvPr>
        </p:nvSpPr>
        <p:spPr/>
        <p:txBody>
          <a:bodyPr/>
          <a:lstStyle/>
          <a:p>
            <a:r>
              <a:rPr lang="es-ES" dirty="0"/>
              <a:t>Funciones del Dominio en LDAP</a:t>
            </a:r>
          </a:p>
        </p:txBody>
      </p:sp>
      <p:sp>
        <p:nvSpPr>
          <p:cNvPr id="3" name="Marcador de contenido 2">
            <a:extLst>
              <a:ext uri="{FF2B5EF4-FFF2-40B4-BE49-F238E27FC236}">
                <a16:creationId xmlns:a16="http://schemas.microsoft.com/office/drawing/2014/main" id="{D8AC94F2-333D-4125-BDC9-6B3258DDB1D7}"/>
              </a:ext>
            </a:extLst>
          </p:cNvPr>
          <p:cNvSpPr>
            <a:spLocks noGrp="1"/>
          </p:cNvSpPr>
          <p:nvPr>
            <p:ph idx="1"/>
          </p:nvPr>
        </p:nvSpPr>
        <p:spPr/>
        <p:txBody>
          <a:bodyPr>
            <a:normAutofit fontScale="92500" lnSpcReduction="10000"/>
          </a:bodyPr>
          <a:lstStyle/>
          <a:p>
            <a:pPr marL="0" indent="0">
              <a:buNone/>
            </a:pPr>
            <a:r>
              <a:rPr lang="es-ES" b="1" dirty="0"/>
              <a:t>Modificación, Búsqueda o Eliminación de Entradas en el Directorio</a:t>
            </a:r>
          </a:p>
          <a:p>
            <a:r>
              <a:rPr lang="es-ES" dirty="0"/>
              <a:t>Otra función clave de LDAP es la capacidad de realizar operaciones de búsqueda y modificación sobre los elementos almacenados en el directorio. Esto incluye:</a:t>
            </a:r>
          </a:p>
          <a:p>
            <a:pPr lvl="1"/>
            <a:r>
              <a:rPr lang="es-ES" b="1" dirty="0"/>
              <a:t>Modificar</a:t>
            </a:r>
            <a:r>
              <a:rPr lang="es-ES" dirty="0"/>
              <a:t> atributos de una entrada, como cambiar el correo electrónico o el grupo de un usuario.</a:t>
            </a:r>
          </a:p>
          <a:p>
            <a:pPr lvl="1"/>
            <a:r>
              <a:rPr lang="es-ES" b="1" dirty="0"/>
              <a:t>Buscar</a:t>
            </a:r>
            <a:r>
              <a:rPr lang="es-ES" dirty="0"/>
              <a:t> entradas mediante diversos criterios, como la ubicación, rol, o nombre común (CN).</a:t>
            </a:r>
          </a:p>
          <a:p>
            <a:pPr lvl="1"/>
            <a:r>
              <a:rPr lang="es-ES" b="1" dirty="0"/>
              <a:t>Eliminar</a:t>
            </a:r>
            <a:r>
              <a:rPr lang="es-ES" dirty="0"/>
              <a:t> entradas que ya no son necesarias o están desactualizadas.</a:t>
            </a:r>
          </a:p>
          <a:p>
            <a:r>
              <a:rPr lang="es-ES" dirty="0"/>
              <a:t>Estas funcionalidades hacen de LDAP una herramienta fundamental para la administración de sistemas y la gestión centralizada de usuarios y recursos en redes corporativas.</a:t>
            </a:r>
          </a:p>
          <a:p>
            <a:pPr marL="0" indent="0">
              <a:buNone/>
            </a:pPr>
            <a:endParaRPr lang="es-ES" dirty="0"/>
          </a:p>
        </p:txBody>
      </p:sp>
    </p:spTree>
    <p:extLst>
      <p:ext uri="{BB962C8B-B14F-4D97-AF65-F5344CB8AC3E}">
        <p14:creationId xmlns:p14="http://schemas.microsoft.com/office/powerpoint/2010/main" val="160139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21A9AA-959B-45DB-99B4-D509D4B4EFDA}"/>
              </a:ext>
            </a:extLst>
          </p:cNvPr>
          <p:cNvSpPr>
            <a:spLocks noGrp="1"/>
          </p:cNvSpPr>
          <p:nvPr>
            <p:ph type="title"/>
          </p:nvPr>
        </p:nvSpPr>
        <p:spPr/>
        <p:txBody>
          <a:bodyPr/>
          <a:lstStyle/>
          <a:p>
            <a:r>
              <a:rPr lang="es-ES" dirty="0"/>
              <a:t>Funcionamiento de LDAP</a:t>
            </a:r>
          </a:p>
        </p:txBody>
      </p:sp>
      <p:sp>
        <p:nvSpPr>
          <p:cNvPr id="3" name="Marcador de contenido 2">
            <a:extLst>
              <a:ext uri="{FF2B5EF4-FFF2-40B4-BE49-F238E27FC236}">
                <a16:creationId xmlns:a16="http://schemas.microsoft.com/office/drawing/2014/main" id="{72D09EEB-E6D5-4A9E-8409-0023F13A830C}"/>
              </a:ext>
            </a:extLst>
          </p:cNvPr>
          <p:cNvSpPr>
            <a:spLocks noGrp="1"/>
          </p:cNvSpPr>
          <p:nvPr>
            <p:ph idx="1"/>
          </p:nvPr>
        </p:nvSpPr>
        <p:spPr/>
        <p:txBody>
          <a:bodyPr/>
          <a:lstStyle/>
          <a:p>
            <a:r>
              <a:rPr lang="es-ES" dirty="0"/>
              <a:t>El funcionamiento de </a:t>
            </a:r>
            <a:r>
              <a:rPr lang="es-ES" b="1" dirty="0"/>
              <a:t>LDAP (</a:t>
            </a:r>
            <a:r>
              <a:rPr lang="es-ES" b="1" dirty="0" err="1"/>
              <a:t>Lightweight</a:t>
            </a:r>
            <a:r>
              <a:rPr lang="es-ES" b="1" dirty="0"/>
              <a:t> </a:t>
            </a:r>
            <a:r>
              <a:rPr lang="es-ES" b="1" dirty="0" err="1"/>
              <a:t>Directory</a:t>
            </a:r>
            <a:r>
              <a:rPr lang="es-ES" b="1" dirty="0"/>
              <a:t> Access </a:t>
            </a:r>
            <a:r>
              <a:rPr lang="es-ES" b="1" dirty="0" err="1"/>
              <a:t>Protocol</a:t>
            </a:r>
            <a:r>
              <a:rPr lang="es-ES" b="1" dirty="0"/>
              <a:t>)</a:t>
            </a:r>
            <a:r>
              <a:rPr lang="es-ES" dirty="0"/>
              <a:t> sigue un modelo clásico de comunicación entre </a:t>
            </a:r>
            <a:r>
              <a:rPr lang="es-ES" b="1" dirty="0"/>
              <a:t>cliente</a:t>
            </a:r>
            <a:r>
              <a:rPr lang="es-ES" dirty="0"/>
              <a:t> y </a:t>
            </a:r>
            <a:r>
              <a:rPr lang="es-ES" b="1" dirty="0"/>
              <a:t>servidor</a:t>
            </a:r>
            <a:r>
              <a:rPr lang="es-ES" dirty="0"/>
              <a:t>. Este proceso se desarrolla en varias fases, todas gestionadas por el servidor LDAP, que se encarga de escuchar las solicitudes y procesarlas según las operaciones requeridas.</a:t>
            </a:r>
          </a:p>
        </p:txBody>
      </p:sp>
    </p:spTree>
    <p:extLst>
      <p:ext uri="{BB962C8B-B14F-4D97-AF65-F5344CB8AC3E}">
        <p14:creationId xmlns:p14="http://schemas.microsoft.com/office/powerpoint/2010/main" val="398340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21A9AA-959B-45DB-99B4-D509D4B4EFDA}"/>
              </a:ext>
            </a:extLst>
          </p:cNvPr>
          <p:cNvSpPr>
            <a:spLocks noGrp="1"/>
          </p:cNvSpPr>
          <p:nvPr>
            <p:ph type="title"/>
          </p:nvPr>
        </p:nvSpPr>
        <p:spPr/>
        <p:txBody>
          <a:bodyPr/>
          <a:lstStyle/>
          <a:p>
            <a:r>
              <a:rPr lang="es-ES" dirty="0"/>
              <a:t>Funcionamiento de LDAP</a:t>
            </a:r>
          </a:p>
        </p:txBody>
      </p:sp>
      <p:sp>
        <p:nvSpPr>
          <p:cNvPr id="3" name="Marcador de contenido 2">
            <a:extLst>
              <a:ext uri="{FF2B5EF4-FFF2-40B4-BE49-F238E27FC236}">
                <a16:creationId xmlns:a16="http://schemas.microsoft.com/office/drawing/2014/main" id="{72D09EEB-E6D5-4A9E-8409-0023F13A830C}"/>
              </a:ext>
            </a:extLst>
          </p:cNvPr>
          <p:cNvSpPr>
            <a:spLocks noGrp="1"/>
          </p:cNvSpPr>
          <p:nvPr>
            <p:ph idx="1"/>
          </p:nvPr>
        </p:nvSpPr>
        <p:spPr/>
        <p:txBody>
          <a:bodyPr/>
          <a:lstStyle/>
          <a:p>
            <a:pPr marL="0" indent="0">
              <a:buNone/>
            </a:pPr>
            <a:r>
              <a:rPr lang="es-ES" b="1" dirty="0"/>
              <a:t>Comunicación Cliente-Servidor</a:t>
            </a:r>
          </a:p>
          <a:p>
            <a:pPr>
              <a:buFont typeface="Arial" panose="020B0604020202020204" pitchFamily="34" charset="0"/>
              <a:buChar char="•"/>
            </a:pPr>
            <a:r>
              <a:rPr lang="es-ES" b="1" dirty="0"/>
              <a:t>Servidor LDAP</a:t>
            </a:r>
            <a:r>
              <a:rPr lang="es-ES" dirty="0"/>
              <a:t>: Escucha las peticiones en el puerto </a:t>
            </a:r>
            <a:r>
              <a:rPr lang="es-ES" b="1" dirty="0"/>
              <a:t>TCP 389</a:t>
            </a:r>
            <a:r>
              <a:rPr lang="es-ES" dirty="0"/>
              <a:t> (puerto predeterminado para LDAP).</a:t>
            </a:r>
          </a:p>
          <a:p>
            <a:pPr>
              <a:buFont typeface="Arial" panose="020B0604020202020204" pitchFamily="34" charset="0"/>
              <a:buChar char="•"/>
            </a:pPr>
            <a:r>
              <a:rPr lang="es-ES" b="1" dirty="0"/>
              <a:t>Cliente LDAP</a:t>
            </a:r>
            <a:r>
              <a:rPr lang="es-ES" dirty="0"/>
              <a:t>: Establece una </a:t>
            </a:r>
            <a:r>
              <a:rPr lang="es-ES" b="1" dirty="0"/>
              <a:t>sesión</a:t>
            </a:r>
            <a:r>
              <a:rPr lang="es-ES" dirty="0"/>
              <a:t> con el servidor a través de este puerto, iniciando la comunicación.</a:t>
            </a:r>
          </a:p>
          <a:p>
            <a:r>
              <a:rPr lang="es-ES" dirty="0"/>
              <a:t>Una vez establecida la sesión, el cliente puede realizar diversas operaciones en el servidor, tales como búsquedas, actualizaciones o lecturas de los datos almacenados en el servicio de directorio.</a:t>
            </a:r>
          </a:p>
          <a:p>
            <a:pPr marL="0" indent="0">
              <a:buNone/>
            </a:pPr>
            <a:endParaRPr lang="es-ES" dirty="0"/>
          </a:p>
        </p:txBody>
      </p:sp>
    </p:spTree>
    <p:extLst>
      <p:ext uri="{BB962C8B-B14F-4D97-AF65-F5344CB8AC3E}">
        <p14:creationId xmlns:p14="http://schemas.microsoft.com/office/powerpoint/2010/main" val="2500186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21A9AA-959B-45DB-99B4-D509D4B4EFDA}"/>
              </a:ext>
            </a:extLst>
          </p:cNvPr>
          <p:cNvSpPr>
            <a:spLocks noGrp="1"/>
          </p:cNvSpPr>
          <p:nvPr>
            <p:ph type="title"/>
          </p:nvPr>
        </p:nvSpPr>
        <p:spPr/>
        <p:txBody>
          <a:bodyPr/>
          <a:lstStyle/>
          <a:p>
            <a:r>
              <a:rPr lang="es-ES" dirty="0"/>
              <a:t>Funcionamiento de LDAP</a:t>
            </a:r>
          </a:p>
        </p:txBody>
      </p:sp>
      <p:sp>
        <p:nvSpPr>
          <p:cNvPr id="3" name="Marcador de contenido 2">
            <a:extLst>
              <a:ext uri="{FF2B5EF4-FFF2-40B4-BE49-F238E27FC236}">
                <a16:creationId xmlns:a16="http://schemas.microsoft.com/office/drawing/2014/main" id="{72D09EEB-E6D5-4A9E-8409-0023F13A830C}"/>
              </a:ext>
            </a:extLst>
          </p:cNvPr>
          <p:cNvSpPr>
            <a:spLocks noGrp="1"/>
          </p:cNvSpPr>
          <p:nvPr>
            <p:ph idx="1"/>
          </p:nvPr>
        </p:nvSpPr>
        <p:spPr>
          <a:xfrm>
            <a:off x="680321" y="2336873"/>
            <a:ext cx="10914648" cy="4422146"/>
          </a:xfrm>
        </p:spPr>
        <p:txBody>
          <a:bodyPr>
            <a:normAutofit fontScale="70000" lnSpcReduction="20000"/>
          </a:bodyPr>
          <a:lstStyle/>
          <a:p>
            <a:pPr marL="0" indent="0">
              <a:buNone/>
            </a:pPr>
            <a:r>
              <a:rPr lang="es-ES" b="1" dirty="0"/>
              <a:t>Operaciones del Servidor LDAP</a:t>
            </a:r>
          </a:p>
          <a:p>
            <a:r>
              <a:rPr lang="es-ES" dirty="0"/>
              <a:t>Las principales operaciones que el servidor LDAP permite realizar son:</a:t>
            </a:r>
          </a:p>
          <a:p>
            <a:pPr>
              <a:buFont typeface="Arial" panose="020B0604020202020204" pitchFamily="34" charset="0"/>
              <a:buChar char="•"/>
            </a:pPr>
            <a:r>
              <a:rPr lang="es-ES" b="1" dirty="0"/>
              <a:t>Añadir una entrada</a:t>
            </a:r>
            <a:r>
              <a:rPr lang="es-ES" dirty="0"/>
              <a:t>: El cliente puede crear nuevas entradas en el directorio, como un nuevo usuario o recurso.</a:t>
            </a:r>
          </a:p>
          <a:p>
            <a:pPr>
              <a:buFont typeface="Arial" panose="020B0604020202020204" pitchFamily="34" charset="0"/>
              <a:buChar char="•"/>
            </a:pPr>
            <a:r>
              <a:rPr lang="es-ES" b="1" dirty="0"/>
              <a:t>Modificar una entrada</a:t>
            </a:r>
            <a:r>
              <a:rPr lang="es-ES" dirty="0"/>
              <a:t>: El cliente puede actualizar los atributos de una entrada existente, por ejemplo, cambiar el grupo al que pertenece un usuario o actualizar su correo electrónico.</a:t>
            </a:r>
          </a:p>
          <a:p>
            <a:pPr>
              <a:buFont typeface="Arial" panose="020B0604020202020204" pitchFamily="34" charset="0"/>
              <a:buChar char="•"/>
            </a:pPr>
            <a:r>
              <a:rPr lang="es-ES" b="1" dirty="0"/>
              <a:t>Borrar una entrada</a:t>
            </a:r>
            <a:r>
              <a:rPr lang="es-ES" dirty="0"/>
              <a:t>: El cliente puede eliminar entradas que ya no sean necesarias, como eliminar un usuario que ya no pertenece a la organización.</a:t>
            </a:r>
          </a:p>
          <a:p>
            <a:pPr>
              <a:buFont typeface="Arial" panose="020B0604020202020204" pitchFamily="34" charset="0"/>
              <a:buChar char="•"/>
            </a:pPr>
            <a:r>
              <a:rPr lang="es-ES" b="1" dirty="0"/>
              <a:t>Buscar</a:t>
            </a:r>
            <a:r>
              <a:rPr lang="es-ES" dirty="0"/>
              <a:t>: El cliente puede realizar búsquedas en el directorio basadas en atributos específicos (como nombre, grupo, o ubicación).</a:t>
            </a:r>
          </a:p>
          <a:p>
            <a:pPr>
              <a:buFont typeface="Arial" panose="020B0604020202020204" pitchFamily="34" charset="0"/>
              <a:buChar char="•"/>
            </a:pPr>
            <a:r>
              <a:rPr lang="es-ES" b="1" dirty="0"/>
              <a:t>Autenticarse</a:t>
            </a:r>
            <a:r>
              <a:rPr lang="es-ES" dirty="0"/>
              <a:t>: El cliente puede autenticar la identidad de un usuario enviando credenciales (nombre de usuario y contraseña).</a:t>
            </a:r>
          </a:p>
          <a:p>
            <a:pPr>
              <a:buFont typeface="Arial" panose="020B0604020202020204" pitchFamily="34" charset="0"/>
              <a:buChar char="•"/>
            </a:pPr>
            <a:r>
              <a:rPr lang="es-ES" b="1" dirty="0"/>
              <a:t>Establecer una conexión segura</a:t>
            </a:r>
            <a:r>
              <a:rPr lang="es-ES" dirty="0"/>
              <a:t>: En la versión </a:t>
            </a:r>
            <a:r>
              <a:rPr lang="es-ES" b="1" dirty="0"/>
              <a:t>LDAPv3</a:t>
            </a:r>
            <a:r>
              <a:rPr lang="es-ES" dirty="0"/>
              <a:t>, el protocolo permite establecer una </a:t>
            </a:r>
            <a:r>
              <a:rPr lang="es-ES" b="1" dirty="0"/>
              <a:t>conexión segura</a:t>
            </a:r>
            <a:r>
              <a:rPr lang="es-ES" dirty="0"/>
              <a:t> mediante SSL/TLS, garantizando que la transmisión de datos esté cifrada y sea segura.</a:t>
            </a:r>
          </a:p>
          <a:p>
            <a:pPr>
              <a:buFont typeface="Arial" panose="020B0604020202020204" pitchFamily="34" charset="0"/>
              <a:buChar char="•"/>
            </a:pPr>
            <a:r>
              <a:rPr lang="es-ES" b="1" dirty="0"/>
              <a:t>Cerrar sesión</a:t>
            </a:r>
            <a:r>
              <a:rPr lang="es-ES" dirty="0"/>
              <a:t>: Una vez que las operaciones han sido completadas, el cliente puede cerrar la sesión, finalizando la comunicación con el servidor.</a:t>
            </a:r>
          </a:p>
          <a:p>
            <a:pPr marL="0" indent="0">
              <a:buNone/>
            </a:pPr>
            <a:endParaRPr lang="es-ES" dirty="0"/>
          </a:p>
        </p:txBody>
      </p:sp>
    </p:spTree>
    <p:extLst>
      <p:ext uri="{BB962C8B-B14F-4D97-AF65-F5344CB8AC3E}">
        <p14:creationId xmlns:p14="http://schemas.microsoft.com/office/powerpoint/2010/main" val="1188152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21A9AA-959B-45DB-99B4-D509D4B4EFDA}"/>
              </a:ext>
            </a:extLst>
          </p:cNvPr>
          <p:cNvSpPr>
            <a:spLocks noGrp="1"/>
          </p:cNvSpPr>
          <p:nvPr>
            <p:ph type="title"/>
          </p:nvPr>
        </p:nvSpPr>
        <p:spPr/>
        <p:txBody>
          <a:bodyPr/>
          <a:lstStyle/>
          <a:p>
            <a:r>
              <a:rPr lang="es-ES" dirty="0"/>
              <a:t>Funcionamiento de LDAP</a:t>
            </a:r>
          </a:p>
        </p:txBody>
      </p:sp>
      <p:sp>
        <p:nvSpPr>
          <p:cNvPr id="3" name="Marcador de contenido 2">
            <a:extLst>
              <a:ext uri="{FF2B5EF4-FFF2-40B4-BE49-F238E27FC236}">
                <a16:creationId xmlns:a16="http://schemas.microsoft.com/office/drawing/2014/main" id="{72D09EEB-E6D5-4A9E-8409-0023F13A830C}"/>
              </a:ext>
            </a:extLst>
          </p:cNvPr>
          <p:cNvSpPr>
            <a:spLocks noGrp="1"/>
          </p:cNvSpPr>
          <p:nvPr>
            <p:ph idx="1"/>
          </p:nvPr>
        </p:nvSpPr>
        <p:spPr>
          <a:xfrm>
            <a:off x="680321" y="2336873"/>
            <a:ext cx="10914648" cy="4422146"/>
          </a:xfrm>
        </p:spPr>
        <p:txBody>
          <a:bodyPr>
            <a:normAutofit fontScale="92500"/>
          </a:bodyPr>
          <a:lstStyle/>
          <a:p>
            <a:pPr marL="0" indent="0">
              <a:buNone/>
            </a:pPr>
            <a:r>
              <a:rPr lang="es-ES" b="1" dirty="0"/>
              <a:t>Estructura y Componentes Clave en LDAP</a:t>
            </a:r>
          </a:p>
          <a:p>
            <a:r>
              <a:rPr lang="es-ES" dirty="0"/>
              <a:t>Para que el protocolo LDAP funcione correctamente, necesita una </a:t>
            </a:r>
            <a:r>
              <a:rPr lang="es-ES" b="1" dirty="0"/>
              <a:t>estructura</a:t>
            </a:r>
            <a:r>
              <a:rPr lang="es-ES" dirty="0"/>
              <a:t> y ciertos </a:t>
            </a:r>
            <a:r>
              <a:rPr lang="es-ES" b="1" dirty="0"/>
              <a:t>componentes</a:t>
            </a:r>
            <a:r>
              <a:rPr lang="es-ES" dirty="0"/>
              <a:t> fundamentales que definen cómo se organiza la información en el directorio. Los principales componentes son:</a:t>
            </a:r>
          </a:p>
          <a:p>
            <a:pPr>
              <a:buFont typeface="Arial" panose="020B0604020202020204" pitchFamily="34" charset="0"/>
              <a:buChar char="•"/>
            </a:pPr>
            <a:r>
              <a:rPr lang="es-ES" b="1" dirty="0"/>
              <a:t>Directorios</a:t>
            </a:r>
            <a:r>
              <a:rPr lang="es-ES" dirty="0"/>
              <a:t>: Son las unidades principales que contienen las entradas en la jerarquía LDAP.</a:t>
            </a:r>
          </a:p>
          <a:p>
            <a:pPr>
              <a:buFont typeface="Arial" panose="020B0604020202020204" pitchFamily="34" charset="0"/>
              <a:buChar char="•"/>
            </a:pPr>
            <a:r>
              <a:rPr lang="es-ES" b="1" dirty="0"/>
              <a:t>Entradas</a:t>
            </a:r>
            <a:r>
              <a:rPr lang="es-ES" dirty="0"/>
              <a:t>: Cada entrada en el directorio representa un objeto, como un usuario o un recurso, y está identificada por un </a:t>
            </a:r>
            <a:r>
              <a:rPr lang="es-ES" b="1" dirty="0"/>
              <a:t>DN (</a:t>
            </a:r>
            <a:r>
              <a:rPr lang="es-ES" b="1" dirty="0" err="1"/>
              <a:t>Distinguished</a:t>
            </a:r>
            <a:r>
              <a:rPr lang="es-ES" b="1" dirty="0"/>
              <a:t> </a:t>
            </a:r>
            <a:r>
              <a:rPr lang="es-ES" b="1" dirty="0" err="1"/>
              <a:t>Name</a:t>
            </a:r>
            <a:r>
              <a:rPr lang="es-ES" b="1" dirty="0"/>
              <a:t>)</a:t>
            </a:r>
            <a:r>
              <a:rPr lang="es-ES" dirty="0"/>
              <a:t>.</a:t>
            </a:r>
          </a:p>
          <a:p>
            <a:pPr>
              <a:buFont typeface="Arial" panose="020B0604020202020204" pitchFamily="34" charset="0"/>
              <a:buChar char="•"/>
            </a:pPr>
            <a:r>
              <a:rPr lang="es-ES" b="1" dirty="0"/>
              <a:t>Atributos</a:t>
            </a:r>
            <a:r>
              <a:rPr lang="es-ES" dirty="0"/>
              <a:t>: Cada entrada tiene uno o más atributos que describen las características del objeto (por ejemplo, nombre común, apellido, grupo, etc.).</a:t>
            </a:r>
          </a:p>
          <a:p>
            <a:pPr>
              <a:buFont typeface="Arial" panose="020B0604020202020204" pitchFamily="34" charset="0"/>
              <a:buChar char="•"/>
            </a:pPr>
            <a:r>
              <a:rPr lang="es-ES" b="1" dirty="0"/>
              <a:t>Esquema</a:t>
            </a:r>
            <a:r>
              <a:rPr lang="es-ES" dirty="0"/>
              <a:t>: Define qué tipos de entradas y atributos pueden existir en el directorio, asegurando que los datos estén organizados de manera coherente.</a:t>
            </a:r>
          </a:p>
          <a:p>
            <a:pPr marL="0" indent="0">
              <a:buNone/>
            </a:pPr>
            <a:endParaRPr lang="es-ES" dirty="0"/>
          </a:p>
        </p:txBody>
      </p:sp>
    </p:spTree>
    <p:extLst>
      <p:ext uri="{BB962C8B-B14F-4D97-AF65-F5344CB8AC3E}">
        <p14:creationId xmlns:p14="http://schemas.microsoft.com/office/powerpoint/2010/main" val="715458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92E69F-6330-432A-A436-A8DB97393F82}"/>
              </a:ext>
            </a:extLst>
          </p:cNvPr>
          <p:cNvSpPr>
            <a:spLocks noGrp="1"/>
          </p:cNvSpPr>
          <p:nvPr>
            <p:ph type="title"/>
          </p:nvPr>
        </p:nvSpPr>
        <p:spPr/>
        <p:txBody>
          <a:bodyPr/>
          <a:lstStyle/>
          <a:p>
            <a:r>
              <a:rPr lang="es-ES" b="1" dirty="0"/>
              <a:t>Ejemplo de servicio LDAP</a:t>
            </a:r>
            <a:endParaRPr lang="es-ES" dirty="0"/>
          </a:p>
        </p:txBody>
      </p:sp>
      <p:pic>
        <p:nvPicPr>
          <p:cNvPr id="1026" name="Picture 2">
            <a:extLst>
              <a:ext uri="{FF2B5EF4-FFF2-40B4-BE49-F238E27FC236}">
                <a16:creationId xmlns:a16="http://schemas.microsoft.com/office/drawing/2014/main" id="{7F10FDFE-F8CC-4461-96F5-48252FD4B4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3261" y="2130241"/>
            <a:ext cx="6419654" cy="4501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492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3C808E-7295-4F64-8558-D3C8022C9421}"/>
              </a:ext>
            </a:extLst>
          </p:cNvPr>
          <p:cNvSpPr>
            <a:spLocks noGrp="1"/>
          </p:cNvSpPr>
          <p:nvPr>
            <p:ph type="title"/>
          </p:nvPr>
        </p:nvSpPr>
        <p:spPr/>
        <p:txBody>
          <a:bodyPr/>
          <a:lstStyle/>
          <a:p>
            <a:r>
              <a:rPr lang="es-ES" dirty="0"/>
              <a:t>Controladores de Dominio en Active </a:t>
            </a:r>
            <a:r>
              <a:rPr lang="es-ES" dirty="0" err="1"/>
              <a:t>Directory</a:t>
            </a:r>
            <a:r>
              <a:rPr lang="es-ES" dirty="0"/>
              <a:t> y </a:t>
            </a:r>
            <a:r>
              <a:rPr lang="es-ES" dirty="0" err="1"/>
              <a:t>OpenLDAP</a:t>
            </a:r>
            <a:endParaRPr lang="es-ES" dirty="0"/>
          </a:p>
        </p:txBody>
      </p:sp>
      <p:sp>
        <p:nvSpPr>
          <p:cNvPr id="3" name="Marcador de contenido 2">
            <a:extLst>
              <a:ext uri="{FF2B5EF4-FFF2-40B4-BE49-F238E27FC236}">
                <a16:creationId xmlns:a16="http://schemas.microsoft.com/office/drawing/2014/main" id="{B93DC2C5-7C54-40E6-BF2F-2F5FD66EF07F}"/>
              </a:ext>
            </a:extLst>
          </p:cNvPr>
          <p:cNvSpPr>
            <a:spLocks noGrp="1"/>
          </p:cNvSpPr>
          <p:nvPr>
            <p:ph idx="1"/>
          </p:nvPr>
        </p:nvSpPr>
        <p:spPr/>
        <p:txBody>
          <a:bodyPr/>
          <a:lstStyle/>
          <a:p>
            <a:r>
              <a:rPr lang="es-ES" b="1" dirty="0"/>
              <a:t>Active </a:t>
            </a:r>
            <a:r>
              <a:rPr lang="es-ES" b="1" dirty="0" err="1"/>
              <a:t>Directory</a:t>
            </a:r>
            <a:r>
              <a:rPr lang="es-ES" b="1" dirty="0"/>
              <a:t> (AD)</a:t>
            </a:r>
            <a:r>
              <a:rPr lang="es-ES" dirty="0"/>
              <a:t> es el servicio de directorio más común en el ámbito empresarial y utiliza tanto </a:t>
            </a:r>
            <a:r>
              <a:rPr lang="es-ES" b="1" dirty="0"/>
              <a:t>Kerberos</a:t>
            </a:r>
            <a:r>
              <a:rPr lang="es-ES" dirty="0"/>
              <a:t> como </a:t>
            </a:r>
            <a:r>
              <a:rPr lang="es-ES" b="1" dirty="0"/>
              <a:t>LDAP</a:t>
            </a:r>
            <a:r>
              <a:rPr lang="es-ES" dirty="0"/>
              <a:t> para la gestión de autenticación y autorización. En entornos Linux, </a:t>
            </a:r>
            <a:r>
              <a:rPr lang="es-ES" b="1" dirty="0" err="1"/>
              <a:t>OpenLDAP</a:t>
            </a:r>
            <a:r>
              <a:rPr lang="es-ES" dirty="0"/>
              <a:t> es una implementación popular para proporcionar un servicio de directorio similar a Active </a:t>
            </a:r>
            <a:r>
              <a:rPr lang="es-ES" dirty="0" err="1"/>
              <a:t>Directory</a:t>
            </a:r>
            <a:r>
              <a:rPr lang="es-ES" dirty="0"/>
              <a:t>.</a:t>
            </a:r>
          </a:p>
        </p:txBody>
      </p:sp>
    </p:spTree>
    <p:extLst>
      <p:ext uri="{BB962C8B-B14F-4D97-AF65-F5344CB8AC3E}">
        <p14:creationId xmlns:p14="http://schemas.microsoft.com/office/powerpoint/2010/main" val="2434084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3C808E-7295-4F64-8558-D3C8022C9421}"/>
              </a:ext>
            </a:extLst>
          </p:cNvPr>
          <p:cNvSpPr>
            <a:spLocks noGrp="1"/>
          </p:cNvSpPr>
          <p:nvPr>
            <p:ph type="title"/>
          </p:nvPr>
        </p:nvSpPr>
        <p:spPr/>
        <p:txBody>
          <a:bodyPr/>
          <a:lstStyle/>
          <a:p>
            <a:r>
              <a:rPr lang="es-ES" dirty="0"/>
              <a:t>Controladores de Dominio en Active </a:t>
            </a:r>
            <a:r>
              <a:rPr lang="es-ES" dirty="0" err="1"/>
              <a:t>Directory</a:t>
            </a:r>
            <a:r>
              <a:rPr lang="es-ES" dirty="0"/>
              <a:t> y </a:t>
            </a:r>
            <a:r>
              <a:rPr lang="es-ES" dirty="0" err="1"/>
              <a:t>OpenLDAP</a:t>
            </a:r>
            <a:endParaRPr lang="es-ES" dirty="0"/>
          </a:p>
        </p:txBody>
      </p:sp>
      <p:sp>
        <p:nvSpPr>
          <p:cNvPr id="3" name="Marcador de contenido 2">
            <a:extLst>
              <a:ext uri="{FF2B5EF4-FFF2-40B4-BE49-F238E27FC236}">
                <a16:creationId xmlns:a16="http://schemas.microsoft.com/office/drawing/2014/main" id="{B93DC2C5-7C54-40E6-BF2F-2F5FD66EF07F}"/>
              </a:ext>
            </a:extLst>
          </p:cNvPr>
          <p:cNvSpPr>
            <a:spLocks noGrp="1"/>
          </p:cNvSpPr>
          <p:nvPr>
            <p:ph idx="1"/>
          </p:nvPr>
        </p:nvSpPr>
        <p:spPr/>
        <p:txBody>
          <a:bodyPr/>
          <a:lstStyle/>
          <a:p>
            <a:r>
              <a:rPr lang="es-ES" b="1" dirty="0"/>
              <a:t>Active </a:t>
            </a:r>
            <a:r>
              <a:rPr lang="es-ES" b="1" dirty="0" err="1"/>
              <a:t>Directory</a:t>
            </a:r>
            <a:r>
              <a:rPr lang="es-ES" b="1" dirty="0"/>
              <a:t> (AD)</a:t>
            </a:r>
            <a:r>
              <a:rPr lang="es-ES" dirty="0"/>
              <a:t> es el servicio de directorio más común en el ámbito empresarial y utiliza tanto </a:t>
            </a:r>
            <a:r>
              <a:rPr lang="es-ES" b="1" dirty="0"/>
              <a:t>Kerberos</a:t>
            </a:r>
            <a:r>
              <a:rPr lang="es-ES" dirty="0"/>
              <a:t> como </a:t>
            </a:r>
            <a:r>
              <a:rPr lang="es-ES" b="1" dirty="0"/>
              <a:t>LDAP</a:t>
            </a:r>
            <a:r>
              <a:rPr lang="es-ES" dirty="0"/>
              <a:t> para la gestión de autenticación y autorización. En entornos Linux, </a:t>
            </a:r>
            <a:r>
              <a:rPr lang="es-ES" b="1" dirty="0" err="1"/>
              <a:t>OpenLDAP</a:t>
            </a:r>
            <a:r>
              <a:rPr lang="es-ES" dirty="0"/>
              <a:t> es una implementación popular para proporcionar un servicio de directorio similar a Active </a:t>
            </a:r>
            <a:r>
              <a:rPr lang="es-ES" dirty="0" err="1"/>
              <a:t>Directory</a:t>
            </a:r>
            <a:r>
              <a:rPr lang="es-ES" dirty="0"/>
              <a:t>.</a:t>
            </a:r>
          </a:p>
        </p:txBody>
      </p:sp>
    </p:spTree>
    <p:extLst>
      <p:ext uri="{BB962C8B-B14F-4D97-AF65-F5344CB8AC3E}">
        <p14:creationId xmlns:p14="http://schemas.microsoft.com/office/powerpoint/2010/main" val="590410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BCF031-0908-472C-AF66-BB51A59EA534}"/>
              </a:ext>
            </a:extLst>
          </p:cNvPr>
          <p:cNvSpPr>
            <a:spLocks noGrp="1"/>
          </p:cNvSpPr>
          <p:nvPr>
            <p:ph type="title"/>
          </p:nvPr>
        </p:nvSpPr>
        <p:spPr/>
        <p:txBody>
          <a:bodyPr/>
          <a:lstStyle/>
          <a:p>
            <a:r>
              <a:rPr lang="es-ES" dirty="0"/>
              <a:t>Ejercicio</a:t>
            </a:r>
          </a:p>
        </p:txBody>
      </p:sp>
      <p:sp>
        <p:nvSpPr>
          <p:cNvPr id="3" name="Marcador de contenido 2">
            <a:extLst>
              <a:ext uri="{FF2B5EF4-FFF2-40B4-BE49-F238E27FC236}">
                <a16:creationId xmlns:a16="http://schemas.microsoft.com/office/drawing/2014/main" id="{28169AA8-98C1-4774-8165-BB23FD7DD08E}"/>
              </a:ext>
            </a:extLst>
          </p:cNvPr>
          <p:cNvSpPr>
            <a:spLocks noGrp="1"/>
          </p:cNvSpPr>
          <p:nvPr>
            <p:ph idx="1"/>
          </p:nvPr>
        </p:nvSpPr>
        <p:spPr/>
        <p:txBody>
          <a:bodyPr/>
          <a:lstStyle/>
          <a:p>
            <a:r>
              <a:rPr lang="es-ES" dirty="0"/>
              <a:t>Instalación de </a:t>
            </a:r>
            <a:r>
              <a:rPr lang="es-ES" dirty="0" err="1"/>
              <a:t>OpenLDAP</a:t>
            </a:r>
            <a:r>
              <a:rPr lang="es-ES" dirty="0"/>
              <a:t> en Ubuntu Server</a:t>
            </a:r>
          </a:p>
        </p:txBody>
      </p:sp>
    </p:spTree>
    <p:extLst>
      <p:ext uri="{BB962C8B-B14F-4D97-AF65-F5344CB8AC3E}">
        <p14:creationId xmlns:p14="http://schemas.microsoft.com/office/powerpoint/2010/main" val="544175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0F8D8B-4DFF-432F-BD49-B35DF1603913}"/>
              </a:ext>
            </a:extLst>
          </p:cNvPr>
          <p:cNvSpPr>
            <a:spLocks noGrp="1"/>
          </p:cNvSpPr>
          <p:nvPr>
            <p:ph type="title"/>
          </p:nvPr>
        </p:nvSpPr>
        <p:spPr/>
        <p:txBody>
          <a:bodyPr/>
          <a:lstStyle/>
          <a:p>
            <a:r>
              <a:rPr lang="es-ES" dirty="0"/>
              <a:t>Definiciones de los objetos que administra un dominio en LDAP</a:t>
            </a:r>
          </a:p>
        </p:txBody>
      </p:sp>
      <p:sp>
        <p:nvSpPr>
          <p:cNvPr id="3" name="Marcador de contenido 2">
            <a:extLst>
              <a:ext uri="{FF2B5EF4-FFF2-40B4-BE49-F238E27FC236}">
                <a16:creationId xmlns:a16="http://schemas.microsoft.com/office/drawing/2014/main" id="{3FD961F6-57C4-4F75-BBC3-D219E02DECEB}"/>
              </a:ext>
            </a:extLst>
          </p:cNvPr>
          <p:cNvSpPr>
            <a:spLocks noGrp="1"/>
          </p:cNvSpPr>
          <p:nvPr>
            <p:ph idx="1"/>
          </p:nvPr>
        </p:nvSpPr>
        <p:spPr/>
        <p:txBody>
          <a:bodyPr>
            <a:normAutofit fontScale="92500" lnSpcReduction="10000"/>
          </a:bodyPr>
          <a:lstStyle/>
          <a:p>
            <a:r>
              <a:rPr lang="es-ES" b="1" dirty="0" err="1"/>
              <a:t>olcSuffix</a:t>
            </a:r>
            <a:r>
              <a:rPr lang="es-ES" b="1" dirty="0"/>
              <a:t> (</a:t>
            </a:r>
            <a:r>
              <a:rPr lang="es-ES" b="1" dirty="0" err="1"/>
              <a:t>Database</a:t>
            </a:r>
            <a:r>
              <a:rPr lang="es-ES" b="1" dirty="0"/>
              <a:t> </a:t>
            </a:r>
            <a:r>
              <a:rPr lang="es-ES" b="1" dirty="0" err="1"/>
              <a:t>Suffix</a:t>
            </a:r>
            <a:r>
              <a:rPr lang="es-ES" b="1" dirty="0"/>
              <a:t>)</a:t>
            </a:r>
            <a:r>
              <a:rPr lang="es-ES" dirty="0"/>
              <a:t>:</a:t>
            </a:r>
          </a:p>
          <a:p>
            <a:pPr>
              <a:buFont typeface="Arial" panose="020B0604020202020204" pitchFamily="34" charset="0"/>
              <a:buChar char="•"/>
            </a:pPr>
            <a:r>
              <a:rPr lang="es-ES" dirty="0"/>
              <a:t>El </a:t>
            </a:r>
            <a:r>
              <a:rPr lang="es-ES" b="1" dirty="0" err="1"/>
              <a:t>olcSuffix</a:t>
            </a:r>
            <a:r>
              <a:rPr lang="es-ES" dirty="0"/>
              <a:t> es el </a:t>
            </a:r>
            <a:r>
              <a:rPr lang="es-ES" b="1" dirty="0"/>
              <a:t>sufijo del dominio</a:t>
            </a:r>
            <a:r>
              <a:rPr lang="es-ES" dirty="0"/>
              <a:t> que se va a utilizar para definir el espacio de nombres administrado por el servidor LDAP. En términos simples, es el nombre del dominio al que el servidor proporcionará servicios de directorio. En un servidor LDAP, todas las entradas están organizadas jerárquicamente en función de este sufijo.</a:t>
            </a:r>
          </a:p>
          <a:p>
            <a:pPr>
              <a:buFont typeface="Arial" panose="020B0604020202020204" pitchFamily="34" charset="0"/>
              <a:buChar char="•"/>
            </a:pPr>
            <a:r>
              <a:rPr lang="es-ES" dirty="0"/>
              <a:t>El valor de </a:t>
            </a:r>
            <a:r>
              <a:rPr lang="es-ES" b="1" dirty="0" err="1"/>
              <a:t>olcSuffix</a:t>
            </a:r>
            <a:r>
              <a:rPr lang="es-ES" dirty="0"/>
              <a:t> suele estar en el formato </a:t>
            </a:r>
            <a:r>
              <a:rPr lang="es-ES" b="1" dirty="0" err="1"/>
              <a:t>Distinguished</a:t>
            </a:r>
            <a:r>
              <a:rPr lang="es-ES" b="1" dirty="0"/>
              <a:t> </a:t>
            </a:r>
            <a:r>
              <a:rPr lang="es-ES" b="1" dirty="0" err="1"/>
              <a:t>Name</a:t>
            </a:r>
            <a:r>
              <a:rPr lang="es-ES" b="1" dirty="0"/>
              <a:t> (DN)</a:t>
            </a:r>
            <a:r>
              <a:rPr lang="es-ES" dirty="0"/>
              <a:t>, que representa el </a:t>
            </a:r>
            <a:r>
              <a:rPr lang="es-ES" b="1" dirty="0"/>
              <a:t>nombre completo del dominio</a:t>
            </a:r>
            <a:r>
              <a:rPr lang="es-ES" dirty="0"/>
              <a:t> que está administrando LDAP. Por ejemplo:</a:t>
            </a:r>
          </a:p>
          <a:p>
            <a:pPr>
              <a:buFont typeface="Arial" panose="020B0604020202020204" pitchFamily="34" charset="0"/>
              <a:buChar char="•"/>
            </a:pPr>
            <a:endParaRPr lang="es-ES" dirty="0"/>
          </a:p>
          <a:p>
            <a:pPr>
              <a:buFont typeface="Arial" panose="020B0604020202020204" pitchFamily="34" charset="0"/>
              <a:buChar char="•"/>
            </a:pPr>
            <a:r>
              <a:rPr lang="es-ES" dirty="0" err="1"/>
              <a:t>olcSuffix</a:t>
            </a:r>
            <a:r>
              <a:rPr lang="es-ES" dirty="0"/>
              <a:t>: </a:t>
            </a:r>
            <a:r>
              <a:rPr lang="es-ES" dirty="0" err="1"/>
              <a:t>dc</a:t>
            </a:r>
            <a:r>
              <a:rPr lang="es-ES" dirty="0"/>
              <a:t>=</a:t>
            </a:r>
            <a:r>
              <a:rPr lang="es-ES" dirty="0" err="1"/>
              <a:t>example,dc</a:t>
            </a:r>
            <a:r>
              <a:rPr lang="es-ES" dirty="0"/>
              <a:t>=</a:t>
            </a:r>
            <a:r>
              <a:rPr lang="es-ES" dirty="0" err="1"/>
              <a:t>com</a:t>
            </a:r>
            <a:endParaRPr lang="es-ES" dirty="0"/>
          </a:p>
          <a:p>
            <a:endParaRPr lang="es-ES" dirty="0"/>
          </a:p>
        </p:txBody>
      </p:sp>
    </p:spTree>
    <p:extLst>
      <p:ext uri="{BB962C8B-B14F-4D97-AF65-F5344CB8AC3E}">
        <p14:creationId xmlns:p14="http://schemas.microsoft.com/office/powerpoint/2010/main" val="645132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0F8D8B-4DFF-432F-BD49-B35DF1603913}"/>
              </a:ext>
            </a:extLst>
          </p:cNvPr>
          <p:cNvSpPr>
            <a:spLocks noGrp="1"/>
          </p:cNvSpPr>
          <p:nvPr>
            <p:ph type="title"/>
          </p:nvPr>
        </p:nvSpPr>
        <p:spPr/>
        <p:txBody>
          <a:bodyPr/>
          <a:lstStyle/>
          <a:p>
            <a:r>
              <a:rPr lang="es-ES" dirty="0"/>
              <a:t>Definiciones de los objetos que administra un dominio en LDAP</a:t>
            </a:r>
          </a:p>
        </p:txBody>
      </p:sp>
      <p:sp>
        <p:nvSpPr>
          <p:cNvPr id="3" name="Marcador de contenido 2">
            <a:extLst>
              <a:ext uri="{FF2B5EF4-FFF2-40B4-BE49-F238E27FC236}">
                <a16:creationId xmlns:a16="http://schemas.microsoft.com/office/drawing/2014/main" id="{3FD961F6-57C4-4F75-BBC3-D219E02DECEB}"/>
              </a:ext>
            </a:extLst>
          </p:cNvPr>
          <p:cNvSpPr>
            <a:spLocks noGrp="1"/>
          </p:cNvSpPr>
          <p:nvPr>
            <p:ph idx="1"/>
          </p:nvPr>
        </p:nvSpPr>
        <p:spPr/>
        <p:txBody>
          <a:bodyPr>
            <a:normAutofit fontScale="92500" lnSpcReduction="10000"/>
          </a:bodyPr>
          <a:lstStyle/>
          <a:p>
            <a:r>
              <a:rPr lang="es-ES" b="1" dirty="0" err="1"/>
              <a:t>olcRootDN</a:t>
            </a:r>
            <a:r>
              <a:rPr lang="es-ES" b="1" dirty="0"/>
              <a:t> (</a:t>
            </a:r>
            <a:r>
              <a:rPr lang="es-ES" b="1" dirty="0" err="1"/>
              <a:t>Root</a:t>
            </a:r>
            <a:r>
              <a:rPr lang="es-ES" b="1" dirty="0"/>
              <a:t> </a:t>
            </a:r>
            <a:r>
              <a:rPr lang="es-ES" b="1" dirty="0" err="1"/>
              <a:t>Distinguished</a:t>
            </a:r>
            <a:r>
              <a:rPr lang="es-ES" b="1" dirty="0"/>
              <a:t> </a:t>
            </a:r>
            <a:r>
              <a:rPr lang="es-ES" b="1" dirty="0" err="1"/>
              <a:t>Name</a:t>
            </a:r>
            <a:r>
              <a:rPr lang="es-ES" b="1" dirty="0"/>
              <a:t>)</a:t>
            </a:r>
            <a:r>
              <a:rPr lang="es-ES" dirty="0"/>
              <a:t>:</a:t>
            </a:r>
          </a:p>
          <a:p>
            <a:pPr>
              <a:buFont typeface="Arial" panose="020B0604020202020204" pitchFamily="34" charset="0"/>
              <a:buChar char="•"/>
            </a:pPr>
            <a:r>
              <a:rPr lang="es-ES" dirty="0"/>
              <a:t>El </a:t>
            </a:r>
            <a:r>
              <a:rPr lang="es-ES" b="1" dirty="0" err="1"/>
              <a:t>olcRootDN</a:t>
            </a:r>
            <a:r>
              <a:rPr lang="es-ES" dirty="0"/>
              <a:t> es el </a:t>
            </a:r>
            <a:r>
              <a:rPr lang="es-ES" b="1" dirty="0"/>
              <a:t>nombre distinguido</a:t>
            </a:r>
            <a:r>
              <a:rPr lang="es-ES" dirty="0"/>
              <a:t> (DN) del usuario </a:t>
            </a:r>
            <a:r>
              <a:rPr lang="es-ES" b="1" dirty="0" err="1"/>
              <a:t>root</a:t>
            </a:r>
            <a:r>
              <a:rPr lang="es-ES" dirty="0"/>
              <a:t> o administrador del servidor LDAP. Este es el usuario que tiene </a:t>
            </a:r>
            <a:r>
              <a:rPr lang="es-ES" b="1" dirty="0"/>
              <a:t>acceso sin restricciones</a:t>
            </a:r>
            <a:r>
              <a:rPr lang="es-ES" dirty="0"/>
              <a:t> y permisos completos en la base de datos LDAP. Es el equivalente al usuario </a:t>
            </a:r>
            <a:r>
              <a:rPr lang="es-ES" b="1" dirty="0" err="1"/>
              <a:t>root</a:t>
            </a:r>
            <a:r>
              <a:rPr lang="es-ES" dirty="0"/>
              <a:t> en un sistema Unix/Linux, y tiene la capacidad de gestionar todas las entradas y objetos dentro del dominio LDAP.</a:t>
            </a:r>
          </a:p>
          <a:p>
            <a:pPr>
              <a:buFont typeface="Arial" panose="020B0604020202020204" pitchFamily="34" charset="0"/>
              <a:buChar char="•"/>
            </a:pPr>
            <a:r>
              <a:rPr lang="es-ES" dirty="0"/>
              <a:t>El valor de </a:t>
            </a:r>
            <a:r>
              <a:rPr lang="es-ES" b="1" dirty="0" err="1"/>
              <a:t>olcRootDN</a:t>
            </a:r>
            <a:r>
              <a:rPr lang="es-ES" dirty="0"/>
              <a:t> también está en formato DN, y se especifica como el DN del usuario administrador. Por ejemplo:</a:t>
            </a:r>
          </a:p>
          <a:p>
            <a:pPr marL="0" indent="0">
              <a:buNone/>
            </a:pPr>
            <a:endParaRPr lang="es-ES" dirty="0"/>
          </a:p>
          <a:p>
            <a:pPr marL="0" indent="0">
              <a:buNone/>
            </a:pPr>
            <a:r>
              <a:rPr lang="es-ES" dirty="0" err="1"/>
              <a:t>olcRootDN</a:t>
            </a:r>
            <a:r>
              <a:rPr lang="es-ES" dirty="0"/>
              <a:t>: </a:t>
            </a:r>
            <a:r>
              <a:rPr lang="es-ES" dirty="0" err="1"/>
              <a:t>cn</a:t>
            </a:r>
            <a:r>
              <a:rPr lang="es-ES" dirty="0"/>
              <a:t>=</a:t>
            </a:r>
            <a:r>
              <a:rPr lang="es-ES" dirty="0" err="1"/>
              <a:t>admin,dc</a:t>
            </a:r>
            <a:r>
              <a:rPr lang="es-ES" dirty="0"/>
              <a:t>=</a:t>
            </a:r>
            <a:r>
              <a:rPr lang="es-ES" dirty="0" err="1"/>
              <a:t>example,dc</a:t>
            </a:r>
            <a:r>
              <a:rPr lang="es-ES" dirty="0"/>
              <a:t>=</a:t>
            </a:r>
            <a:r>
              <a:rPr lang="es-ES" dirty="0" err="1"/>
              <a:t>com</a:t>
            </a:r>
            <a:endParaRPr lang="es-ES" dirty="0"/>
          </a:p>
        </p:txBody>
      </p:sp>
    </p:spTree>
    <p:extLst>
      <p:ext uri="{BB962C8B-B14F-4D97-AF65-F5344CB8AC3E}">
        <p14:creationId xmlns:p14="http://schemas.microsoft.com/office/powerpoint/2010/main" val="2829897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C0B26C-19BF-481D-A32F-B413F3C70F7D}"/>
              </a:ext>
            </a:extLst>
          </p:cNvPr>
          <p:cNvSpPr>
            <a:spLocks noGrp="1"/>
          </p:cNvSpPr>
          <p:nvPr>
            <p:ph type="title"/>
          </p:nvPr>
        </p:nvSpPr>
        <p:spPr/>
        <p:txBody>
          <a:bodyPr/>
          <a:lstStyle/>
          <a:p>
            <a:r>
              <a:rPr lang="es-ES" dirty="0"/>
              <a:t>Definiciones de los objetos que administra un dominio en LDAP</a:t>
            </a:r>
          </a:p>
        </p:txBody>
      </p:sp>
      <p:sp>
        <p:nvSpPr>
          <p:cNvPr id="3" name="Marcador de contenido 2">
            <a:extLst>
              <a:ext uri="{FF2B5EF4-FFF2-40B4-BE49-F238E27FC236}">
                <a16:creationId xmlns:a16="http://schemas.microsoft.com/office/drawing/2014/main" id="{FB902A78-9FE6-4B08-8BF8-02E0C08F1F73}"/>
              </a:ext>
            </a:extLst>
          </p:cNvPr>
          <p:cNvSpPr>
            <a:spLocks noGrp="1"/>
          </p:cNvSpPr>
          <p:nvPr>
            <p:ph idx="1"/>
          </p:nvPr>
        </p:nvSpPr>
        <p:spPr>
          <a:xfrm>
            <a:off x="680321" y="2336873"/>
            <a:ext cx="10603564" cy="3599316"/>
          </a:xfrm>
        </p:spPr>
        <p:txBody>
          <a:bodyPr>
            <a:normAutofit/>
          </a:bodyPr>
          <a:lstStyle/>
          <a:p>
            <a:r>
              <a:rPr lang="es-ES" b="1" dirty="0" err="1"/>
              <a:t>olcRootPW</a:t>
            </a:r>
            <a:r>
              <a:rPr lang="es-ES" b="1" dirty="0"/>
              <a:t> (</a:t>
            </a:r>
            <a:r>
              <a:rPr lang="es-ES" b="1" dirty="0" err="1"/>
              <a:t>Root</a:t>
            </a:r>
            <a:r>
              <a:rPr lang="es-ES" b="1" dirty="0"/>
              <a:t> </a:t>
            </a:r>
            <a:r>
              <a:rPr lang="es-ES" b="1" dirty="0" err="1"/>
              <a:t>Password</a:t>
            </a:r>
            <a:r>
              <a:rPr lang="es-ES" b="1" dirty="0"/>
              <a:t>)</a:t>
            </a:r>
            <a:r>
              <a:rPr lang="es-ES" dirty="0"/>
              <a:t>:</a:t>
            </a:r>
          </a:p>
          <a:p>
            <a:pPr>
              <a:buFont typeface="Arial" panose="020B0604020202020204" pitchFamily="34" charset="0"/>
              <a:buChar char="•"/>
            </a:pPr>
            <a:r>
              <a:rPr lang="es-ES" dirty="0"/>
              <a:t>El </a:t>
            </a:r>
            <a:r>
              <a:rPr lang="es-ES" b="1" dirty="0" err="1"/>
              <a:t>olcRootPW</a:t>
            </a:r>
            <a:r>
              <a:rPr lang="es-ES" dirty="0"/>
              <a:t> es la </a:t>
            </a:r>
            <a:r>
              <a:rPr lang="es-ES" b="1" dirty="0"/>
              <a:t>contraseña</a:t>
            </a:r>
            <a:r>
              <a:rPr lang="es-ES" dirty="0"/>
              <a:t> asociada al usuario </a:t>
            </a:r>
            <a:r>
              <a:rPr lang="es-ES" b="1" dirty="0" err="1"/>
              <a:t>RootDN</a:t>
            </a:r>
            <a:r>
              <a:rPr lang="es-ES" dirty="0"/>
              <a:t>. Esta contraseña permite autenticar al administrador de LDAP para realizar tareas de configuración y mantenimiento. La contraseña puede estar en </a:t>
            </a:r>
            <a:r>
              <a:rPr lang="es-ES" b="1" dirty="0"/>
              <a:t>texto claro</a:t>
            </a:r>
            <a:r>
              <a:rPr lang="es-ES" dirty="0"/>
              <a:t> o, preferiblemente, </a:t>
            </a:r>
            <a:r>
              <a:rPr lang="es-ES" b="1" dirty="0"/>
              <a:t>encriptada</a:t>
            </a:r>
            <a:r>
              <a:rPr lang="es-ES" dirty="0"/>
              <a:t> utilizando métodos como </a:t>
            </a:r>
            <a:r>
              <a:rPr lang="es-ES" b="1" dirty="0"/>
              <a:t>SSHA</a:t>
            </a:r>
            <a:r>
              <a:rPr lang="es-ES" dirty="0"/>
              <a:t>.</a:t>
            </a:r>
          </a:p>
          <a:p>
            <a:pPr>
              <a:buFont typeface="Arial" panose="020B0604020202020204" pitchFamily="34" charset="0"/>
              <a:buChar char="•"/>
            </a:pPr>
            <a:r>
              <a:rPr lang="es-ES" dirty="0"/>
              <a:t>Ejemplo de configuración</a:t>
            </a:r>
          </a:p>
          <a:p>
            <a:endParaRPr lang="es-ES" dirty="0"/>
          </a:p>
          <a:p>
            <a:r>
              <a:rPr lang="es-ES" dirty="0" err="1"/>
              <a:t>olcRootPW</a:t>
            </a:r>
            <a:r>
              <a:rPr lang="es-ES" dirty="0"/>
              <a:t>: {SSHA}e1NTSEF9UjJJV3NYWlFvZ3g5QUwxdzVIM1ZDUg==</a:t>
            </a:r>
          </a:p>
        </p:txBody>
      </p:sp>
    </p:spTree>
    <p:extLst>
      <p:ext uri="{BB962C8B-B14F-4D97-AF65-F5344CB8AC3E}">
        <p14:creationId xmlns:p14="http://schemas.microsoft.com/office/powerpoint/2010/main" val="1259509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7193B9-9714-43EE-98C8-2EA89B57F0F2}"/>
              </a:ext>
            </a:extLst>
          </p:cNvPr>
          <p:cNvSpPr>
            <a:spLocks noGrp="1"/>
          </p:cNvSpPr>
          <p:nvPr>
            <p:ph type="title"/>
          </p:nvPr>
        </p:nvSpPr>
        <p:spPr/>
        <p:txBody>
          <a:bodyPr/>
          <a:lstStyle/>
          <a:p>
            <a:r>
              <a:rPr lang="es-ES" dirty="0"/>
              <a:t>Formato LDIF</a:t>
            </a:r>
          </a:p>
        </p:txBody>
      </p:sp>
      <p:sp>
        <p:nvSpPr>
          <p:cNvPr id="3" name="Marcador de contenido 2">
            <a:extLst>
              <a:ext uri="{FF2B5EF4-FFF2-40B4-BE49-F238E27FC236}">
                <a16:creationId xmlns:a16="http://schemas.microsoft.com/office/drawing/2014/main" id="{59A8FA8B-ABE1-4643-BED8-482C3510B103}"/>
              </a:ext>
            </a:extLst>
          </p:cNvPr>
          <p:cNvSpPr>
            <a:spLocks noGrp="1"/>
          </p:cNvSpPr>
          <p:nvPr>
            <p:ph idx="1"/>
          </p:nvPr>
        </p:nvSpPr>
        <p:spPr/>
        <p:txBody>
          <a:bodyPr/>
          <a:lstStyle/>
          <a:p>
            <a:r>
              <a:rPr lang="es-ES" dirty="0"/>
              <a:t>El </a:t>
            </a:r>
            <a:r>
              <a:rPr lang="es-ES" b="1" dirty="0"/>
              <a:t>formato LDIF</a:t>
            </a:r>
            <a:r>
              <a:rPr lang="es-ES" dirty="0"/>
              <a:t> (</a:t>
            </a:r>
            <a:r>
              <a:rPr lang="es-ES" b="1" dirty="0"/>
              <a:t>LDAP Data </a:t>
            </a:r>
            <a:r>
              <a:rPr lang="es-ES" b="1" dirty="0" err="1"/>
              <a:t>Interchange</a:t>
            </a:r>
            <a:r>
              <a:rPr lang="es-ES" b="1" dirty="0"/>
              <a:t> </a:t>
            </a:r>
            <a:r>
              <a:rPr lang="es-ES" b="1" dirty="0" err="1"/>
              <a:t>Format</a:t>
            </a:r>
            <a:r>
              <a:rPr lang="es-ES" dirty="0"/>
              <a:t>) es un formato estándar para representar y manipular los datos que se almacenan en un servidor </a:t>
            </a:r>
            <a:r>
              <a:rPr lang="es-ES" b="1" dirty="0"/>
              <a:t>LDAP</a:t>
            </a:r>
            <a:r>
              <a:rPr lang="es-ES" dirty="0"/>
              <a:t>. Este formato es </a:t>
            </a:r>
            <a:r>
              <a:rPr lang="es-ES" b="1" dirty="0"/>
              <a:t>independiente de la plataforma</a:t>
            </a:r>
            <a:r>
              <a:rPr lang="es-ES" dirty="0"/>
              <a:t> y se utiliza para </a:t>
            </a:r>
            <a:r>
              <a:rPr lang="es-ES" b="1" dirty="0"/>
              <a:t>guardar, recuperar, importar o exportar datos</a:t>
            </a:r>
            <a:r>
              <a:rPr lang="es-ES" dirty="0"/>
              <a:t> en sistemas que usan LDAP. Es común en la administración de directorios LDAP para agregar, modificar o eliminar entradas del servidor de directorios.</a:t>
            </a:r>
          </a:p>
        </p:txBody>
      </p:sp>
    </p:spTree>
    <p:extLst>
      <p:ext uri="{BB962C8B-B14F-4D97-AF65-F5344CB8AC3E}">
        <p14:creationId xmlns:p14="http://schemas.microsoft.com/office/powerpoint/2010/main" val="1651637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7193B9-9714-43EE-98C8-2EA89B57F0F2}"/>
              </a:ext>
            </a:extLst>
          </p:cNvPr>
          <p:cNvSpPr>
            <a:spLocks noGrp="1"/>
          </p:cNvSpPr>
          <p:nvPr>
            <p:ph type="title"/>
          </p:nvPr>
        </p:nvSpPr>
        <p:spPr/>
        <p:txBody>
          <a:bodyPr/>
          <a:lstStyle/>
          <a:p>
            <a:r>
              <a:rPr lang="es-ES" dirty="0"/>
              <a:t>Formato LDIF</a:t>
            </a:r>
          </a:p>
        </p:txBody>
      </p:sp>
      <p:sp>
        <p:nvSpPr>
          <p:cNvPr id="3" name="Marcador de contenido 2">
            <a:extLst>
              <a:ext uri="{FF2B5EF4-FFF2-40B4-BE49-F238E27FC236}">
                <a16:creationId xmlns:a16="http://schemas.microsoft.com/office/drawing/2014/main" id="{59A8FA8B-ABE1-4643-BED8-482C3510B103}"/>
              </a:ext>
            </a:extLst>
          </p:cNvPr>
          <p:cNvSpPr>
            <a:spLocks noGrp="1"/>
          </p:cNvSpPr>
          <p:nvPr>
            <p:ph idx="1"/>
          </p:nvPr>
        </p:nvSpPr>
        <p:spPr>
          <a:xfrm>
            <a:off x="680321" y="2336873"/>
            <a:ext cx="4410153" cy="3599316"/>
          </a:xfrm>
        </p:spPr>
        <p:txBody>
          <a:bodyPr/>
          <a:lstStyle/>
          <a:p>
            <a:r>
              <a:rPr lang="es-ES" dirty="0" err="1"/>
              <a:t>dn</a:t>
            </a:r>
            <a:r>
              <a:rPr lang="es-ES" dirty="0"/>
              <a:t>: &lt;nombre distinguido&gt;</a:t>
            </a:r>
          </a:p>
          <a:p>
            <a:r>
              <a:rPr lang="es-ES" dirty="0"/>
              <a:t>&lt;</a:t>
            </a:r>
            <a:r>
              <a:rPr lang="es-ES" dirty="0" err="1"/>
              <a:t>nombre_atributo</a:t>
            </a:r>
            <a:r>
              <a:rPr lang="es-ES" dirty="0"/>
              <a:t>&gt;: &lt;valor&gt;</a:t>
            </a:r>
          </a:p>
          <a:p>
            <a:r>
              <a:rPr lang="es-ES" dirty="0"/>
              <a:t>&lt;</a:t>
            </a:r>
            <a:r>
              <a:rPr lang="es-ES" dirty="0" err="1"/>
              <a:t>nombre_atributo</a:t>
            </a:r>
            <a:r>
              <a:rPr lang="es-ES" dirty="0"/>
              <a:t>&gt;: &lt;valor&gt;</a:t>
            </a:r>
          </a:p>
          <a:p>
            <a:r>
              <a:rPr lang="es-ES" dirty="0"/>
              <a:t>&lt;</a:t>
            </a:r>
            <a:r>
              <a:rPr lang="es-ES" dirty="0" err="1"/>
              <a:t>nombre_atributo</a:t>
            </a:r>
            <a:r>
              <a:rPr lang="es-ES" dirty="0"/>
              <a:t>&gt;: &lt;valor&gt;</a:t>
            </a:r>
          </a:p>
        </p:txBody>
      </p:sp>
      <p:sp>
        <p:nvSpPr>
          <p:cNvPr id="7" name="Rectangle 3">
            <a:extLst>
              <a:ext uri="{FF2B5EF4-FFF2-40B4-BE49-F238E27FC236}">
                <a16:creationId xmlns:a16="http://schemas.microsoft.com/office/drawing/2014/main" id="{C41866DC-F1F0-4235-9046-8A364B1D2E57}"/>
              </a:ext>
            </a:extLst>
          </p:cNvPr>
          <p:cNvSpPr>
            <a:spLocks noChangeArrowheads="1"/>
          </p:cNvSpPr>
          <p:nvPr/>
        </p:nvSpPr>
        <p:spPr bwMode="auto">
          <a:xfrm rot="10800000" flipV="1">
            <a:off x="6341096" y="982176"/>
            <a:ext cx="4330046"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400" dirty="0" err="1"/>
              <a:t>dn</a:t>
            </a:r>
            <a:r>
              <a:rPr lang="es-ES" altLang="es-ES" sz="2400" dirty="0"/>
              <a:t>:: Define el </a:t>
            </a:r>
            <a:r>
              <a:rPr lang="es-ES" altLang="es-ES" sz="2400" dirty="0" err="1"/>
              <a:t>Distinguished</a:t>
            </a:r>
            <a:r>
              <a:rPr lang="es-ES" altLang="es-ES" sz="2400" dirty="0"/>
              <a:t> </a:t>
            </a:r>
            <a:r>
              <a:rPr lang="es-ES" altLang="es-ES" sz="2400" dirty="0" err="1"/>
              <a:t>Name</a:t>
            </a:r>
            <a:r>
              <a:rPr lang="es-ES" altLang="es-ES" sz="2400" dirty="0"/>
              <a:t> (DN), que es el identificador único de la entrada en el directorio LDAP.</a:t>
            </a:r>
          </a:p>
          <a:p>
            <a:pPr marL="0" marR="0" lvl="0" indent="0" algn="l" defTabSz="914400" rtl="0" eaLnBrk="0" fontAlgn="base" latinLnBrk="0" hangingPunct="0">
              <a:lnSpc>
                <a:spcPct val="100000"/>
              </a:lnSpc>
              <a:spcBef>
                <a:spcPct val="0"/>
              </a:spcBef>
              <a:spcAft>
                <a:spcPct val="0"/>
              </a:spcAft>
              <a:buClrTx/>
              <a:buSzTx/>
              <a:tabLst/>
            </a:pPr>
            <a:endParaRPr lang="es-ES" altLang="es-ES" sz="2400" dirty="0"/>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400" dirty="0"/>
              <a:t>&lt;</a:t>
            </a:r>
            <a:r>
              <a:rPr lang="es-ES" altLang="es-ES" sz="2400" dirty="0" err="1"/>
              <a:t>nombre_atributo</a:t>
            </a:r>
            <a:r>
              <a:rPr lang="es-ES" altLang="es-ES" sz="2400" dirty="0"/>
              <a:t>&gt;: Cada línea después de </a:t>
            </a:r>
            <a:r>
              <a:rPr lang="es-ES" altLang="es-ES" sz="2400" dirty="0" err="1"/>
              <a:t>dn</a:t>
            </a:r>
            <a:r>
              <a:rPr lang="es-ES" altLang="es-ES" sz="2400" dirty="0"/>
              <a:t>: contiene un nombre de atributo (por ejemplo, </a:t>
            </a:r>
            <a:r>
              <a:rPr lang="es-ES" altLang="es-ES" sz="2400" dirty="0" err="1"/>
              <a:t>cn</a:t>
            </a:r>
            <a:r>
              <a:rPr lang="es-ES" altLang="es-ES" sz="2400" dirty="0"/>
              <a:t>, </a:t>
            </a:r>
            <a:r>
              <a:rPr lang="es-ES" altLang="es-ES" sz="2400" dirty="0" err="1"/>
              <a:t>sn</a:t>
            </a:r>
            <a:r>
              <a:rPr lang="es-ES" altLang="es-ES" sz="2400" dirty="0"/>
              <a:t>, mail) seguido por su valor.</a:t>
            </a:r>
          </a:p>
          <a:p>
            <a:pPr marL="0" marR="0" lvl="0" indent="0" algn="l" defTabSz="914400" rtl="0" eaLnBrk="0" fontAlgn="base" latinLnBrk="0" hangingPunct="0">
              <a:lnSpc>
                <a:spcPct val="100000"/>
              </a:lnSpc>
              <a:spcBef>
                <a:spcPct val="0"/>
              </a:spcBef>
              <a:spcAft>
                <a:spcPct val="0"/>
              </a:spcAft>
              <a:buClrTx/>
              <a:buSzTx/>
              <a:buFontTx/>
              <a:buChar char="•"/>
              <a:tabLst/>
            </a:pPr>
            <a:endParaRPr lang="es-ES" altLang="es-ES" sz="2400" dirty="0"/>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2400" dirty="0"/>
              <a:t>&lt;valor&gt;: Especifica el valor asignado a ese atributo. </a:t>
            </a:r>
          </a:p>
        </p:txBody>
      </p:sp>
    </p:spTree>
    <p:extLst>
      <p:ext uri="{BB962C8B-B14F-4D97-AF65-F5344CB8AC3E}">
        <p14:creationId xmlns:p14="http://schemas.microsoft.com/office/powerpoint/2010/main" val="2187407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9AC8FA-F65B-4BFA-B22D-9F87EA32FF49}"/>
              </a:ext>
            </a:extLst>
          </p:cNvPr>
          <p:cNvSpPr>
            <a:spLocks noGrp="1"/>
          </p:cNvSpPr>
          <p:nvPr>
            <p:ph type="title"/>
          </p:nvPr>
        </p:nvSpPr>
        <p:spPr/>
        <p:txBody>
          <a:bodyPr/>
          <a:lstStyle/>
          <a:p>
            <a:r>
              <a:rPr lang="es-ES" dirty="0"/>
              <a:t>Ejemplo de archivo LDIF</a:t>
            </a:r>
          </a:p>
        </p:txBody>
      </p:sp>
      <p:sp>
        <p:nvSpPr>
          <p:cNvPr id="3" name="Marcador de contenido 2">
            <a:extLst>
              <a:ext uri="{FF2B5EF4-FFF2-40B4-BE49-F238E27FC236}">
                <a16:creationId xmlns:a16="http://schemas.microsoft.com/office/drawing/2014/main" id="{E79D7E6B-631C-4202-B249-D864E3E200FC}"/>
              </a:ext>
            </a:extLst>
          </p:cNvPr>
          <p:cNvSpPr>
            <a:spLocks noGrp="1"/>
          </p:cNvSpPr>
          <p:nvPr>
            <p:ph idx="1"/>
          </p:nvPr>
        </p:nvSpPr>
        <p:spPr>
          <a:xfrm>
            <a:off x="152420" y="2318019"/>
            <a:ext cx="7926351" cy="3599316"/>
          </a:xfrm>
        </p:spPr>
        <p:txBody>
          <a:bodyPr>
            <a:normAutofit lnSpcReduction="10000"/>
          </a:bodyPr>
          <a:lstStyle/>
          <a:p>
            <a:r>
              <a:rPr lang="es-ES" dirty="0" err="1"/>
              <a:t>dn</a:t>
            </a:r>
            <a:r>
              <a:rPr lang="es-ES" dirty="0"/>
              <a:t>: </a:t>
            </a:r>
            <a:r>
              <a:rPr lang="es-ES" dirty="0" err="1"/>
              <a:t>cn</a:t>
            </a:r>
            <a:r>
              <a:rPr lang="es-ES" dirty="0"/>
              <a:t>=Juan </a:t>
            </a:r>
            <a:r>
              <a:rPr lang="es-ES" dirty="0" err="1"/>
              <a:t>Perez,ou</a:t>
            </a:r>
            <a:r>
              <a:rPr lang="es-ES" dirty="0"/>
              <a:t>=</a:t>
            </a:r>
            <a:r>
              <a:rPr lang="es-ES" dirty="0" err="1"/>
              <a:t>empleados,dc</a:t>
            </a:r>
            <a:r>
              <a:rPr lang="es-ES" dirty="0"/>
              <a:t>=</a:t>
            </a:r>
            <a:r>
              <a:rPr lang="es-ES" dirty="0" err="1"/>
              <a:t>example,dc</a:t>
            </a:r>
            <a:r>
              <a:rPr lang="es-ES" dirty="0"/>
              <a:t>=</a:t>
            </a:r>
            <a:r>
              <a:rPr lang="es-ES" dirty="0" err="1"/>
              <a:t>com</a:t>
            </a:r>
            <a:r>
              <a:rPr lang="es-ES" dirty="0"/>
              <a:t> </a:t>
            </a:r>
          </a:p>
          <a:p>
            <a:r>
              <a:rPr lang="es-ES" dirty="0" err="1"/>
              <a:t>objectClass</a:t>
            </a:r>
            <a:r>
              <a:rPr lang="es-ES" dirty="0"/>
              <a:t>: </a:t>
            </a:r>
            <a:r>
              <a:rPr lang="es-ES" dirty="0" err="1"/>
              <a:t>inetOrgPerson</a:t>
            </a:r>
            <a:r>
              <a:rPr lang="es-ES" dirty="0"/>
              <a:t> </a:t>
            </a:r>
          </a:p>
          <a:p>
            <a:r>
              <a:rPr lang="es-ES" dirty="0" err="1"/>
              <a:t>cn</a:t>
            </a:r>
            <a:r>
              <a:rPr lang="es-ES" dirty="0"/>
              <a:t>: Juan Perez </a:t>
            </a:r>
          </a:p>
          <a:p>
            <a:r>
              <a:rPr lang="es-ES" dirty="0" err="1"/>
              <a:t>sn</a:t>
            </a:r>
            <a:r>
              <a:rPr lang="es-ES" dirty="0"/>
              <a:t>: Perez </a:t>
            </a:r>
          </a:p>
          <a:p>
            <a:r>
              <a:rPr lang="es-ES" dirty="0" err="1"/>
              <a:t>givenName</a:t>
            </a:r>
            <a:r>
              <a:rPr lang="es-ES" dirty="0"/>
              <a:t>: Juan </a:t>
            </a:r>
          </a:p>
          <a:p>
            <a:r>
              <a:rPr lang="es-ES" dirty="0"/>
              <a:t>mail: jperez@example.com </a:t>
            </a:r>
          </a:p>
          <a:p>
            <a:r>
              <a:rPr lang="es-ES" dirty="0" err="1"/>
              <a:t>uid</a:t>
            </a:r>
            <a:r>
              <a:rPr lang="es-ES" dirty="0"/>
              <a:t>: </a:t>
            </a:r>
            <a:r>
              <a:rPr lang="es-ES" dirty="0" err="1"/>
              <a:t>jperez</a:t>
            </a:r>
            <a:r>
              <a:rPr lang="es-ES" dirty="0"/>
              <a:t> </a:t>
            </a:r>
          </a:p>
          <a:p>
            <a:r>
              <a:rPr lang="es-ES" dirty="0" err="1"/>
              <a:t>telephoneNumber</a:t>
            </a:r>
            <a:r>
              <a:rPr lang="es-ES" dirty="0"/>
              <a:t>: +34 123 456 789</a:t>
            </a:r>
          </a:p>
        </p:txBody>
      </p:sp>
      <p:sp>
        <p:nvSpPr>
          <p:cNvPr id="6" name="Rectangle 2">
            <a:extLst>
              <a:ext uri="{FF2B5EF4-FFF2-40B4-BE49-F238E27FC236}">
                <a16:creationId xmlns:a16="http://schemas.microsoft.com/office/drawing/2014/main" id="{D7021E7D-8288-4AAE-B461-CC03C9C761ED}"/>
              </a:ext>
            </a:extLst>
          </p:cNvPr>
          <p:cNvSpPr>
            <a:spLocks noChangeArrowheads="1"/>
          </p:cNvSpPr>
          <p:nvPr/>
        </p:nvSpPr>
        <p:spPr bwMode="auto">
          <a:xfrm>
            <a:off x="8078771" y="2151830"/>
            <a:ext cx="386087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400" b="1" i="0" u="none" strike="noStrike" cap="none" normalizeH="0" baseline="0" dirty="0" err="1">
                <a:ln>
                  <a:noFill/>
                </a:ln>
                <a:solidFill>
                  <a:schemeClr val="tx1"/>
                </a:solidFill>
                <a:effectLst/>
                <a:latin typeface="Arial" panose="020B0604020202020204" pitchFamily="34" charset="0"/>
              </a:rPr>
              <a:t>dn</a:t>
            </a:r>
            <a:r>
              <a:rPr kumimoji="0" lang="es-ES" altLang="es-ES" sz="1400" b="0" i="0" u="none" strike="noStrike" cap="none" normalizeH="0" baseline="0" dirty="0">
                <a:ln>
                  <a:noFill/>
                </a:ln>
                <a:solidFill>
                  <a:schemeClr val="tx1"/>
                </a:solidFill>
                <a:effectLst/>
                <a:latin typeface="Arial" panose="020B0604020202020204" pitchFamily="34" charset="0"/>
              </a:rPr>
              <a:t>: </a:t>
            </a:r>
            <a:r>
              <a:rPr kumimoji="0" lang="es-ES" altLang="es-ES" sz="1400" b="0" i="0" u="none" strike="noStrike" cap="none" normalizeH="0" baseline="0" dirty="0" err="1">
                <a:ln>
                  <a:noFill/>
                </a:ln>
                <a:solidFill>
                  <a:schemeClr val="tx1"/>
                </a:solidFill>
                <a:effectLst/>
                <a:latin typeface="Arial Unicode MS"/>
              </a:rPr>
              <a:t>cn</a:t>
            </a:r>
            <a:r>
              <a:rPr kumimoji="0" lang="es-ES" altLang="es-ES" sz="1400" b="0" i="0" u="none" strike="noStrike" cap="none" normalizeH="0" baseline="0" dirty="0">
                <a:ln>
                  <a:noFill/>
                </a:ln>
                <a:solidFill>
                  <a:schemeClr val="tx1"/>
                </a:solidFill>
                <a:effectLst/>
                <a:latin typeface="Arial Unicode MS"/>
              </a:rPr>
              <a:t>=Juan </a:t>
            </a:r>
            <a:r>
              <a:rPr kumimoji="0" lang="es-ES" altLang="es-ES" sz="1400" b="0" i="0" u="none" strike="noStrike" cap="none" normalizeH="0" baseline="0" dirty="0" err="1">
                <a:ln>
                  <a:noFill/>
                </a:ln>
                <a:solidFill>
                  <a:schemeClr val="tx1"/>
                </a:solidFill>
                <a:effectLst/>
                <a:latin typeface="Arial Unicode MS"/>
              </a:rPr>
              <a:t>Perez,ou</a:t>
            </a:r>
            <a:r>
              <a:rPr kumimoji="0" lang="es-ES" altLang="es-ES" sz="1400" b="0" i="0" u="none" strike="noStrike" cap="none" normalizeH="0" baseline="0" dirty="0">
                <a:ln>
                  <a:noFill/>
                </a:ln>
                <a:solidFill>
                  <a:schemeClr val="tx1"/>
                </a:solidFill>
                <a:effectLst/>
                <a:latin typeface="Arial Unicode MS"/>
              </a:rPr>
              <a:t>=</a:t>
            </a:r>
            <a:r>
              <a:rPr kumimoji="0" lang="es-ES" altLang="es-ES" sz="1400" b="0" i="0" u="none" strike="noStrike" cap="none" normalizeH="0" baseline="0" dirty="0" err="1">
                <a:ln>
                  <a:noFill/>
                </a:ln>
                <a:solidFill>
                  <a:schemeClr val="tx1"/>
                </a:solidFill>
                <a:effectLst/>
                <a:latin typeface="Arial Unicode MS"/>
              </a:rPr>
              <a:t>empleados,dc</a:t>
            </a:r>
            <a:r>
              <a:rPr kumimoji="0" lang="es-ES" altLang="es-ES" sz="1400" b="0" i="0" u="none" strike="noStrike" cap="none" normalizeH="0" baseline="0" dirty="0">
                <a:ln>
                  <a:noFill/>
                </a:ln>
                <a:solidFill>
                  <a:schemeClr val="tx1"/>
                </a:solidFill>
                <a:effectLst/>
                <a:latin typeface="Arial Unicode MS"/>
              </a:rPr>
              <a:t>=</a:t>
            </a:r>
            <a:r>
              <a:rPr kumimoji="0" lang="es-ES" altLang="es-ES" sz="1400" b="0" i="0" u="none" strike="noStrike" cap="none" normalizeH="0" baseline="0" dirty="0" err="1">
                <a:ln>
                  <a:noFill/>
                </a:ln>
                <a:solidFill>
                  <a:schemeClr val="tx1"/>
                </a:solidFill>
                <a:effectLst/>
                <a:latin typeface="Arial Unicode MS"/>
              </a:rPr>
              <a:t>example,dc</a:t>
            </a:r>
            <a:r>
              <a:rPr kumimoji="0" lang="es-ES" altLang="es-ES" sz="1400" b="0" i="0" u="none" strike="noStrike" cap="none" normalizeH="0" baseline="0" dirty="0">
                <a:ln>
                  <a:noFill/>
                </a:ln>
                <a:solidFill>
                  <a:schemeClr val="tx1"/>
                </a:solidFill>
                <a:effectLst/>
                <a:latin typeface="Arial Unicode MS"/>
              </a:rPr>
              <a:t>=</a:t>
            </a:r>
            <a:r>
              <a:rPr kumimoji="0" lang="es-ES" altLang="es-ES" sz="1400" b="0" i="0" u="none" strike="noStrike" cap="none" normalizeH="0" baseline="0" dirty="0" err="1">
                <a:ln>
                  <a:noFill/>
                </a:ln>
                <a:solidFill>
                  <a:schemeClr val="tx1"/>
                </a:solidFill>
                <a:effectLst/>
                <a:latin typeface="Arial Unicode MS"/>
              </a:rPr>
              <a:t>com</a:t>
            </a:r>
            <a:r>
              <a:rPr kumimoji="0" lang="es-ES" altLang="es-ES" sz="1400" b="0" i="0" u="none" strike="noStrike" cap="none" normalizeH="0" baseline="0" dirty="0">
                <a:ln>
                  <a:noFill/>
                </a:ln>
                <a:solidFill>
                  <a:schemeClr val="tx1"/>
                </a:solidFill>
                <a:effectLst/>
              </a:rPr>
              <a:t> es el </a:t>
            </a:r>
            <a:r>
              <a:rPr kumimoji="0" lang="es-ES" altLang="es-ES" sz="1400" b="0" i="0" u="none" strike="noStrike" cap="none" normalizeH="0" baseline="0" dirty="0" err="1">
                <a:ln>
                  <a:noFill/>
                </a:ln>
                <a:solidFill>
                  <a:schemeClr val="tx1"/>
                </a:solidFill>
                <a:effectLst/>
              </a:rPr>
              <a:t>Distinguished</a:t>
            </a:r>
            <a:r>
              <a:rPr kumimoji="0" lang="es-ES" altLang="es-ES" sz="1400" b="0" i="0" u="none" strike="noStrike" cap="none" normalizeH="0" baseline="0" dirty="0">
                <a:ln>
                  <a:noFill/>
                </a:ln>
                <a:solidFill>
                  <a:schemeClr val="tx1"/>
                </a:solidFill>
                <a:effectLst/>
              </a:rPr>
              <a:t> </a:t>
            </a:r>
            <a:r>
              <a:rPr kumimoji="0" lang="es-ES" altLang="es-ES" sz="1400" b="0" i="0" u="none" strike="noStrike" cap="none" normalizeH="0" baseline="0" dirty="0" err="1">
                <a:ln>
                  <a:noFill/>
                </a:ln>
                <a:solidFill>
                  <a:schemeClr val="tx1"/>
                </a:solidFill>
                <a:effectLst/>
              </a:rPr>
              <a:t>Name</a:t>
            </a:r>
            <a:r>
              <a:rPr kumimoji="0" lang="es-ES" altLang="es-ES" sz="1400" b="0" i="0" u="none" strike="noStrike" cap="none" normalizeH="0" baseline="0" dirty="0">
                <a:ln>
                  <a:noFill/>
                </a:ln>
                <a:solidFill>
                  <a:schemeClr val="tx1"/>
                </a:solidFill>
                <a:effectLst/>
              </a:rPr>
              <a:t> del usuario. Este identifica de manera única al usuario "Juan Perez" en la organización, dentro de la unidad organizativa </a:t>
            </a:r>
            <a:r>
              <a:rPr kumimoji="0" lang="es-ES" altLang="es-ES" sz="1400" b="1" i="0" u="none" strike="noStrike" cap="none" normalizeH="0" baseline="0" dirty="0">
                <a:ln>
                  <a:noFill/>
                </a:ln>
                <a:solidFill>
                  <a:schemeClr val="tx1"/>
                </a:solidFill>
                <a:effectLst/>
                <a:latin typeface="Arial" panose="020B0604020202020204" pitchFamily="34" charset="0"/>
              </a:rPr>
              <a:t>empleados</a:t>
            </a:r>
            <a:r>
              <a:rPr kumimoji="0" lang="es-ES" altLang="es-ES" sz="1400" b="0" i="0" u="none" strike="noStrike" cap="none" normalizeH="0" baseline="0" dirty="0">
                <a:ln>
                  <a:noFill/>
                </a:ln>
                <a:solidFill>
                  <a:schemeClr val="tx1"/>
                </a:solidFill>
                <a:effectLst/>
                <a:latin typeface="Arial" panose="020B0604020202020204" pitchFamily="34" charset="0"/>
              </a:rPr>
              <a:t> y el dominio </a:t>
            </a:r>
            <a:r>
              <a:rPr kumimoji="0" lang="es-ES" altLang="es-ES" sz="1400" b="1" i="0" u="none" strike="noStrike" cap="none" normalizeH="0" baseline="0" dirty="0">
                <a:ln>
                  <a:noFill/>
                </a:ln>
                <a:solidFill>
                  <a:schemeClr val="tx1"/>
                </a:solidFill>
                <a:effectLst/>
                <a:latin typeface="Arial" panose="020B0604020202020204" pitchFamily="34" charset="0"/>
              </a:rPr>
              <a:t>example.com</a:t>
            </a:r>
            <a:r>
              <a:rPr kumimoji="0" lang="es-ES" altLang="es-E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400" b="1" i="0" u="none" strike="noStrike" cap="none" normalizeH="0" baseline="0" dirty="0" err="1">
                <a:ln>
                  <a:noFill/>
                </a:ln>
                <a:solidFill>
                  <a:schemeClr val="tx1"/>
                </a:solidFill>
                <a:effectLst/>
                <a:latin typeface="Arial" panose="020B0604020202020204" pitchFamily="34" charset="0"/>
              </a:rPr>
              <a:t>objectClass</a:t>
            </a:r>
            <a:r>
              <a:rPr kumimoji="0" lang="es-ES" altLang="es-ES" sz="1400" b="0" i="0" u="none" strike="noStrike" cap="none" normalizeH="0" baseline="0" dirty="0">
                <a:ln>
                  <a:noFill/>
                </a:ln>
                <a:solidFill>
                  <a:schemeClr val="tx1"/>
                </a:solidFill>
                <a:effectLst/>
                <a:latin typeface="Arial" panose="020B0604020202020204" pitchFamily="34" charset="0"/>
              </a:rPr>
              <a:t>: Define el tipo de objeto LDAP, en este caso </a:t>
            </a:r>
            <a:r>
              <a:rPr kumimoji="0" lang="es-ES" altLang="es-ES" sz="1400" b="1" i="0" u="none" strike="noStrike" cap="none" normalizeH="0" baseline="0" dirty="0" err="1">
                <a:ln>
                  <a:noFill/>
                </a:ln>
                <a:solidFill>
                  <a:schemeClr val="tx1"/>
                </a:solidFill>
                <a:effectLst/>
                <a:latin typeface="Arial" panose="020B0604020202020204" pitchFamily="34" charset="0"/>
              </a:rPr>
              <a:t>inetOrgPerson</a:t>
            </a:r>
            <a:r>
              <a:rPr kumimoji="0" lang="es-ES" altLang="es-ES" sz="1400" b="0" i="0" u="none" strike="noStrike" cap="none" normalizeH="0" baseline="0" dirty="0">
                <a:ln>
                  <a:noFill/>
                </a:ln>
                <a:solidFill>
                  <a:schemeClr val="tx1"/>
                </a:solidFill>
                <a:effectLst/>
                <a:latin typeface="Arial" panose="020B0604020202020204" pitchFamily="34" charset="0"/>
              </a:rPr>
              <a:t> (persona en una organización).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400" b="1" i="0" u="none" strike="noStrike" cap="none" normalizeH="0" baseline="0" dirty="0" err="1">
                <a:ln>
                  <a:noFill/>
                </a:ln>
                <a:solidFill>
                  <a:schemeClr val="tx1"/>
                </a:solidFill>
                <a:effectLst/>
                <a:latin typeface="Arial" panose="020B0604020202020204" pitchFamily="34" charset="0"/>
              </a:rPr>
              <a:t>cn</a:t>
            </a:r>
            <a:r>
              <a:rPr kumimoji="0" lang="es-ES" altLang="es-ES" sz="1400" b="0" i="0" u="none" strike="noStrike" cap="none" normalizeH="0" baseline="0" dirty="0">
                <a:ln>
                  <a:noFill/>
                </a:ln>
                <a:solidFill>
                  <a:schemeClr val="tx1"/>
                </a:solidFill>
                <a:effectLst/>
                <a:latin typeface="Arial" panose="020B0604020202020204" pitchFamily="34" charset="0"/>
              </a:rPr>
              <a:t>: </a:t>
            </a:r>
            <a:r>
              <a:rPr kumimoji="0" lang="es-ES" altLang="es-ES" sz="1400" b="0" i="0" u="none" strike="noStrike" cap="none" normalizeH="0" baseline="0" dirty="0" err="1">
                <a:ln>
                  <a:noFill/>
                </a:ln>
                <a:solidFill>
                  <a:schemeClr val="tx1"/>
                </a:solidFill>
                <a:effectLst/>
                <a:latin typeface="Arial" panose="020B0604020202020204" pitchFamily="34" charset="0"/>
              </a:rPr>
              <a:t>Common</a:t>
            </a:r>
            <a:r>
              <a:rPr kumimoji="0" lang="es-ES" altLang="es-ES" sz="1400" b="0" i="0" u="none" strike="noStrike" cap="none" normalizeH="0" baseline="0" dirty="0">
                <a:ln>
                  <a:noFill/>
                </a:ln>
                <a:solidFill>
                  <a:schemeClr val="tx1"/>
                </a:solidFill>
                <a:effectLst/>
                <a:latin typeface="Arial" panose="020B0604020202020204" pitchFamily="34" charset="0"/>
              </a:rPr>
              <a:t> </a:t>
            </a:r>
            <a:r>
              <a:rPr kumimoji="0" lang="es-ES" altLang="es-ES" sz="1400" b="0" i="0" u="none" strike="noStrike" cap="none" normalizeH="0" baseline="0" dirty="0" err="1">
                <a:ln>
                  <a:noFill/>
                </a:ln>
                <a:solidFill>
                  <a:schemeClr val="tx1"/>
                </a:solidFill>
                <a:effectLst/>
                <a:latin typeface="Arial" panose="020B0604020202020204" pitchFamily="34" charset="0"/>
              </a:rPr>
              <a:t>Name</a:t>
            </a:r>
            <a:r>
              <a:rPr kumimoji="0" lang="es-ES" altLang="es-ES" sz="1400" b="0" i="0" u="none" strike="noStrike" cap="none" normalizeH="0" baseline="0" dirty="0">
                <a:ln>
                  <a:noFill/>
                </a:ln>
                <a:solidFill>
                  <a:schemeClr val="tx1"/>
                </a:solidFill>
                <a:effectLst/>
                <a:latin typeface="Arial" panose="020B0604020202020204" pitchFamily="34" charset="0"/>
              </a:rPr>
              <a:t>, el nombre común del usuario.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400" b="1" i="0" u="none" strike="noStrike" cap="none" normalizeH="0" baseline="0" dirty="0" err="1">
                <a:ln>
                  <a:noFill/>
                </a:ln>
                <a:solidFill>
                  <a:schemeClr val="tx1"/>
                </a:solidFill>
                <a:effectLst/>
                <a:latin typeface="Arial" panose="020B0604020202020204" pitchFamily="34" charset="0"/>
              </a:rPr>
              <a:t>sn</a:t>
            </a:r>
            <a:r>
              <a:rPr kumimoji="0" lang="es-ES" altLang="es-ES" sz="1400" b="0" i="0" u="none" strike="noStrike" cap="none" normalizeH="0" baseline="0" dirty="0">
                <a:ln>
                  <a:noFill/>
                </a:ln>
                <a:solidFill>
                  <a:schemeClr val="tx1"/>
                </a:solidFill>
                <a:effectLst/>
                <a:latin typeface="Arial" panose="020B0604020202020204" pitchFamily="34" charset="0"/>
              </a:rPr>
              <a:t>: </a:t>
            </a:r>
            <a:r>
              <a:rPr kumimoji="0" lang="es-ES" altLang="es-ES" sz="1400" b="0" i="0" u="none" strike="noStrike" cap="none" normalizeH="0" baseline="0" dirty="0" err="1">
                <a:ln>
                  <a:noFill/>
                </a:ln>
                <a:solidFill>
                  <a:schemeClr val="tx1"/>
                </a:solidFill>
                <a:effectLst/>
                <a:latin typeface="Arial" panose="020B0604020202020204" pitchFamily="34" charset="0"/>
              </a:rPr>
              <a:t>Surname</a:t>
            </a:r>
            <a:r>
              <a:rPr kumimoji="0" lang="es-ES" altLang="es-ES" sz="1400" b="0" i="0" u="none" strike="noStrike" cap="none" normalizeH="0" baseline="0" dirty="0">
                <a:ln>
                  <a:noFill/>
                </a:ln>
                <a:solidFill>
                  <a:schemeClr val="tx1"/>
                </a:solidFill>
                <a:effectLst/>
                <a:latin typeface="Arial" panose="020B0604020202020204" pitchFamily="34" charset="0"/>
              </a:rPr>
              <a:t>, el apellido del usuario.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400" b="1" i="0" u="none" strike="noStrike" cap="none" normalizeH="0" baseline="0" dirty="0" err="1">
                <a:ln>
                  <a:noFill/>
                </a:ln>
                <a:solidFill>
                  <a:schemeClr val="tx1"/>
                </a:solidFill>
                <a:effectLst/>
                <a:latin typeface="Arial" panose="020B0604020202020204" pitchFamily="34" charset="0"/>
              </a:rPr>
              <a:t>givenName</a:t>
            </a:r>
            <a:r>
              <a:rPr kumimoji="0" lang="es-ES" altLang="es-ES" sz="1400" b="0" i="0" u="none" strike="noStrike" cap="none" normalizeH="0" baseline="0" dirty="0">
                <a:ln>
                  <a:noFill/>
                </a:ln>
                <a:solidFill>
                  <a:schemeClr val="tx1"/>
                </a:solidFill>
                <a:effectLst/>
                <a:latin typeface="Arial" panose="020B0604020202020204" pitchFamily="34" charset="0"/>
              </a:rPr>
              <a:t>: El nombre de pila del usuario.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400" b="1" i="0" u="none" strike="noStrike" cap="none" normalizeH="0" baseline="0" dirty="0">
                <a:ln>
                  <a:noFill/>
                </a:ln>
                <a:solidFill>
                  <a:schemeClr val="tx1"/>
                </a:solidFill>
                <a:effectLst/>
                <a:latin typeface="Arial" panose="020B0604020202020204" pitchFamily="34" charset="0"/>
              </a:rPr>
              <a:t>mail</a:t>
            </a:r>
            <a:r>
              <a:rPr kumimoji="0" lang="es-ES" altLang="es-ES" sz="1400" b="0" i="0" u="none" strike="noStrike" cap="none" normalizeH="0" baseline="0" dirty="0">
                <a:ln>
                  <a:noFill/>
                </a:ln>
                <a:solidFill>
                  <a:schemeClr val="tx1"/>
                </a:solidFill>
                <a:effectLst/>
                <a:latin typeface="Arial" panose="020B0604020202020204" pitchFamily="34" charset="0"/>
              </a:rPr>
              <a:t>: Dirección de correo electrónico del usuario.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400" b="1" i="0" u="none" strike="noStrike" cap="none" normalizeH="0" baseline="0" dirty="0" err="1">
                <a:ln>
                  <a:noFill/>
                </a:ln>
                <a:solidFill>
                  <a:schemeClr val="tx1"/>
                </a:solidFill>
                <a:effectLst/>
                <a:latin typeface="Arial" panose="020B0604020202020204" pitchFamily="34" charset="0"/>
              </a:rPr>
              <a:t>uid</a:t>
            </a:r>
            <a:r>
              <a:rPr kumimoji="0" lang="es-ES" altLang="es-ES" sz="1400" b="0" i="0" u="none" strike="noStrike" cap="none" normalizeH="0" baseline="0" dirty="0">
                <a:ln>
                  <a:noFill/>
                </a:ln>
                <a:solidFill>
                  <a:schemeClr val="tx1"/>
                </a:solidFill>
                <a:effectLst/>
                <a:latin typeface="Arial" panose="020B0604020202020204" pitchFamily="34" charset="0"/>
              </a:rPr>
              <a:t>: Identificador único del usuario en el sistema.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400" b="1" i="0" u="none" strike="noStrike" cap="none" normalizeH="0" baseline="0" dirty="0" err="1">
                <a:ln>
                  <a:noFill/>
                </a:ln>
                <a:solidFill>
                  <a:schemeClr val="tx1"/>
                </a:solidFill>
                <a:effectLst/>
                <a:latin typeface="Arial" panose="020B0604020202020204" pitchFamily="34" charset="0"/>
              </a:rPr>
              <a:t>telephoneNumber</a:t>
            </a:r>
            <a:r>
              <a:rPr kumimoji="0" lang="es-ES" altLang="es-ES" sz="1400" b="0" i="0" u="none" strike="noStrike" cap="none" normalizeH="0" baseline="0" dirty="0">
                <a:ln>
                  <a:noFill/>
                </a:ln>
                <a:solidFill>
                  <a:schemeClr val="tx1"/>
                </a:solidFill>
                <a:effectLst/>
                <a:latin typeface="Arial" panose="020B0604020202020204" pitchFamily="34" charset="0"/>
              </a:rPr>
              <a:t>: Número de teléfono del </a:t>
            </a:r>
            <a:r>
              <a:rPr kumimoji="0" lang="es-ES" altLang="es-ES" sz="1400" b="0" i="0" u="none" strike="noStrike" cap="none" normalizeH="0" baseline="0" dirty="0" err="1">
                <a:ln>
                  <a:noFill/>
                </a:ln>
                <a:solidFill>
                  <a:schemeClr val="tx1"/>
                </a:solidFill>
                <a:effectLst/>
                <a:latin typeface="Arial" panose="020B0604020202020204" pitchFamily="34" charset="0"/>
              </a:rPr>
              <a:t>suario</a:t>
            </a:r>
            <a:r>
              <a:rPr kumimoji="0" lang="es-ES" altLang="es-ES" sz="1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935826679"/>
      </p:ext>
    </p:extLst>
  </p:cSld>
  <p:clrMapOvr>
    <a:masterClrMapping/>
  </p:clrMapOvr>
</p:sld>
</file>

<file path=ppt/theme/theme1.xml><?xml version="1.0" encoding="utf-8"?>
<a:theme xmlns:a="http://schemas.openxmlformats.org/drawingml/2006/main" name="Berlí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TM04033917[[fn=Berlín]]</Template>
  <TotalTime>83</TotalTime>
  <Words>2068</Words>
  <Application>Microsoft Office PowerPoint</Application>
  <PresentationFormat>Panorámica</PresentationFormat>
  <Paragraphs>136</Paragraphs>
  <Slides>24</Slides>
  <Notes>0</Notes>
  <HiddenSlides>1</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Arial Unicode MS</vt:lpstr>
      <vt:lpstr>Trebuchet MS</vt:lpstr>
      <vt:lpstr>Berlín</vt:lpstr>
      <vt:lpstr>Introducción a la administración de servicio de directorio</vt:lpstr>
      <vt:lpstr>Introducción</vt:lpstr>
      <vt:lpstr>¿Qué es LDAP? Nomenclatura</vt:lpstr>
      <vt:lpstr>Esquema del Servicio de Directorio</vt:lpstr>
      <vt:lpstr>Esquema del Servicio de Directorio</vt:lpstr>
      <vt:lpstr>Funciones del Dominio en LDAP</vt:lpstr>
      <vt:lpstr>Funciones del Dominio en LDAP</vt:lpstr>
      <vt:lpstr>Funciones del Dominio en LDAP</vt:lpstr>
      <vt:lpstr>Funciones del Dominio en LDAP</vt:lpstr>
      <vt:lpstr>Funciones del Dominio en LDAP</vt:lpstr>
      <vt:lpstr>Funcionamiento de LDAP</vt:lpstr>
      <vt:lpstr>Funcionamiento de LDAP</vt:lpstr>
      <vt:lpstr>Funcionamiento de LDAP</vt:lpstr>
      <vt:lpstr>Funcionamiento de LDAP</vt:lpstr>
      <vt:lpstr>Ejemplo de servicio LDAP</vt:lpstr>
      <vt:lpstr>Controladores de Dominio en Active Directory y OpenLDAP</vt:lpstr>
      <vt:lpstr>Controladores de Dominio en Active Directory y OpenLDAP</vt:lpstr>
      <vt:lpstr>Ejercicio</vt:lpstr>
      <vt:lpstr>Definiciones de los objetos que administra un dominio en LDAP</vt:lpstr>
      <vt:lpstr>Definiciones de los objetos que administra un dominio en LDAP</vt:lpstr>
      <vt:lpstr>Definiciones de los objetos que administra un dominio en LDAP</vt:lpstr>
      <vt:lpstr>Formato LDIF</vt:lpstr>
      <vt:lpstr>Formato LDIF</vt:lpstr>
      <vt:lpstr>Ejemplo de archivo LDIF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la administración de servicio de directorio</dc:title>
  <dc:creator>Federico Jahn</dc:creator>
  <cp:lastModifiedBy>Federico Jahn</cp:lastModifiedBy>
  <cp:revision>8</cp:revision>
  <dcterms:created xsi:type="dcterms:W3CDTF">2024-09-10T18:58:33Z</dcterms:created>
  <dcterms:modified xsi:type="dcterms:W3CDTF">2024-09-17T19:24:11Z</dcterms:modified>
</cp:coreProperties>
</file>